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participants. Explain that this deck maps exactly to the Python notebook they have open. The goal today is not to teach programming, it is to make sure Python syntax never gets in the way of understanding quantum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participants 30 seconds to glance at this slide. Tell them each section is short by design — this is a revision, not a programming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variable is simply a named container. Python figures out the type from the value you give it — you never have to declare it. This is different from Java or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Python does NOT need a type declaration. Just write x = 5 and Python knows it is an integer. This trips up people coming from strongly typed languages like Java.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Live-code this in the notebook. Ask participants to predict what type() will print before running each line. This is the predict-run-confront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 is the first real data structure we introduce. In quantum code, lists hold qubit labels, measurement outcomes, circuit parameters — they appear constantly.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zero-based indexing. This is one of the most common errors for non-programmers. Append is how you grow a list dynamically.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Conditionals are how we filter results, check thresholds, and branch logic. In quantum code, we often check if a fidelity or error rate is within an acceptable bound before using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Indentation is syntax in Python — it is not optional. Run this in the notebook with different values of fidelity so participants can see which branch fires.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Loops appear in quantum code whenever we process all qubits, all shots, or all elements of a result list. This is one of the patterns they will use almost every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will range(3) produce? Let participants answer before running it. Then show the loop-with-conditional pattern in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exact pattern — loop over results, count how many satisfy a condition — appears in quantum error analysis, shot counting, and every measurement post-processing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Functions let us name an idea and reuse it. In quantum code, we write functions to build circuit components, compute post-processing metrics, and wrap repeated gate 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participants how removing the return statement changes the output to None. This is a common mistake. Also explain that the function name should describe what it does, not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slide. Every concept we just covered reappears immediately in Qiskit. Make this connection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participants: if you can read and write the code from today without feeling lost, you are ready for every notebook that follows. The quantum ideas will be new, but the Python will be familiar.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the notebook. Tell participants the exercises are short, one per topic. Circulate and help anyone stuck on syntax. Remind them that answers will be discussed briefly before the session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9396"/>
          </a:solidFill>
          <a:ln w="12700">
            <a:solidFill>
              <a:srgbClr val="0A9396"/>
            </a:solidFill>
            <a:prstDash val="solid"/>
          </a:ln>
        </p:spPr>
      </p:sp>
      <p:sp>
        <p:nvSpPr>
          <p:cNvPr id="3" name="Shape 1"/>
          <p:cNvSpPr/>
          <p:nvPr/>
        </p:nvSpPr>
        <p:spPr>
          <a:xfrm>
            <a:off x="502920" y="1371600"/>
            <a:ext cx="6766560" cy="2286000"/>
          </a:xfrm>
          <a:prstGeom prst="roundRect">
            <a:avLst>
              <a:gd name="adj" fmla="val 4800"/>
            </a:avLst>
          </a:prstGeom>
          <a:solidFill>
            <a:srgbClr val="FFFFFF">
              <a:alpha val="7000"/>
            </a:srgbClr>
          </a:solidFill>
          <a:ln w="12700">
            <a:solidFill>
              <a:srgbClr val="94D2BD"/>
            </a:solidFill>
            <a:prstDash val="solid"/>
          </a:ln>
        </p:spPr>
      </p:sp>
      <p:sp>
        <p:nvSpPr>
          <p:cNvPr id="4" name="Text 2"/>
          <p:cNvSpPr/>
          <p:nvPr/>
        </p:nvSpPr>
        <p:spPr>
          <a:xfrm>
            <a:off x="502920" y="1417320"/>
            <a:ext cx="7772400" cy="777240"/>
          </a:xfrm>
          <a:prstGeom prst="rect">
            <a:avLst/>
          </a:prstGeom>
          <a:noFill/>
          <a:ln/>
        </p:spPr>
        <p:txBody>
          <a:bodyPr wrap="square" lIns="0" tIns="0" rIns="0" bIns="0" rtlCol="0" anchor="ctr"/>
          <a:lstStyle/>
          <a:p>
            <a:pPr algn="l" indent="0" marL="0">
              <a:buNone/>
            </a:pPr>
            <a:r>
              <a:rPr lang="en-US" sz="4400" b="1" dirty="0">
                <a:solidFill>
                  <a:srgbClr val="94D2BD"/>
                </a:solidFill>
                <a:latin typeface="Cambria" pitchFamily="34" charset="0"/>
                <a:ea typeface="Cambria" pitchFamily="34" charset="-122"/>
                <a:cs typeface="Cambria" pitchFamily="34" charset="-120"/>
              </a:rPr>
              <a:t>Python Basics</a:t>
            </a:r>
            <a:endParaRPr lang="en-US" sz="4400" dirty="0"/>
          </a:p>
        </p:txBody>
      </p:sp>
      <p:sp>
        <p:nvSpPr>
          <p:cNvPr id="5" name="Text 3"/>
          <p:cNvSpPr/>
          <p:nvPr/>
        </p:nvSpPr>
        <p:spPr>
          <a:xfrm>
            <a:off x="502920" y="2176272"/>
            <a:ext cx="7772400" cy="502920"/>
          </a:xfrm>
          <a:prstGeom prst="rect">
            <a:avLst/>
          </a:prstGeom>
          <a:noFill/>
          <a:ln/>
        </p:spPr>
        <p:txBody>
          <a:bodyPr wrap="square" lIns="0" tIns="0" rIns="0" bIns="0" rtlCol="0" anchor="ctr"/>
          <a:lstStyle/>
          <a:p>
            <a:pPr algn="l" indent="0" marL="0">
              <a:buNone/>
            </a:pPr>
            <a:r>
              <a:rPr lang="en-US" sz="2200" dirty="0">
                <a:solidFill>
                  <a:srgbClr val="FFFFFF"/>
                </a:solidFill>
                <a:latin typeface="Calibri" pitchFamily="34" charset="0"/>
                <a:ea typeface="Calibri" pitchFamily="34" charset="-122"/>
                <a:cs typeface="Calibri" pitchFamily="34" charset="-120"/>
              </a:rPr>
              <a:t>for Quantum Machine Learning</a:t>
            </a:r>
            <a:endParaRPr lang="en-US" sz="2200" dirty="0"/>
          </a:p>
        </p:txBody>
      </p:sp>
      <p:sp>
        <p:nvSpPr>
          <p:cNvPr id="6" name="Text 4"/>
          <p:cNvSpPr/>
          <p:nvPr/>
        </p:nvSpPr>
        <p:spPr>
          <a:xfrm>
            <a:off x="502920" y="2743200"/>
            <a:ext cx="7772400" cy="320040"/>
          </a:xfrm>
          <a:prstGeom prst="rect">
            <a:avLst/>
          </a:prstGeom>
          <a:noFill/>
          <a:ln/>
        </p:spPr>
        <p:txBody>
          <a:bodyPr wrap="square" lIns="0" tIns="0" rIns="0" bIns="0" rtlCol="0" anchor="ctr"/>
          <a:lstStyle/>
          <a:p>
            <a:pPr algn="l" indent="0" marL="0">
              <a:buNone/>
            </a:pPr>
            <a:r>
              <a:rPr lang="en-US" sz="1300" dirty="0">
                <a:solidFill>
                  <a:srgbClr val="94D2BD"/>
                </a:solidFill>
                <a:latin typeface="Calibri" pitchFamily="34" charset="0"/>
                <a:ea typeface="Calibri" pitchFamily="34" charset="-122"/>
                <a:cs typeface="Calibri" pitchFamily="34" charset="-120"/>
              </a:rPr>
              <a:t>Week 0  |  IIT Delhi Executive Programme in QML</a:t>
            </a:r>
            <a:endParaRPr lang="en-US" sz="1300" dirty="0"/>
          </a:p>
        </p:txBody>
      </p:sp>
      <p:sp>
        <p:nvSpPr>
          <p:cNvPr id="7" name="Shape 5"/>
          <p:cNvSpPr/>
          <p:nvPr/>
        </p:nvSpPr>
        <p:spPr>
          <a:xfrm>
            <a:off x="8503920" y="548640"/>
            <a:ext cx="128016" cy="128016"/>
          </a:xfrm>
          <a:prstGeom prst="ellipse">
            <a:avLst/>
          </a:prstGeom>
          <a:solidFill>
            <a:srgbClr val="0A9396">
              <a:alpha val="60000"/>
            </a:srgbClr>
          </a:solidFill>
          <a:ln w="12700">
            <a:solidFill>
              <a:srgbClr val="0A9396"/>
            </a:solidFill>
            <a:prstDash val="solid"/>
          </a:ln>
        </p:spPr>
      </p:sp>
      <p:sp>
        <p:nvSpPr>
          <p:cNvPr id="8" name="Shape 6"/>
          <p:cNvSpPr/>
          <p:nvPr/>
        </p:nvSpPr>
        <p:spPr>
          <a:xfrm>
            <a:off x="8503920" y="1097280"/>
            <a:ext cx="128016" cy="128016"/>
          </a:xfrm>
          <a:prstGeom prst="ellipse">
            <a:avLst/>
          </a:prstGeom>
          <a:solidFill>
            <a:srgbClr val="0A9396">
              <a:alpha val="60000"/>
            </a:srgbClr>
          </a:solidFill>
          <a:ln w="12700">
            <a:solidFill>
              <a:srgbClr val="0A9396"/>
            </a:solidFill>
            <a:prstDash val="solid"/>
          </a:ln>
        </p:spPr>
      </p:sp>
      <p:sp>
        <p:nvSpPr>
          <p:cNvPr id="9" name="Shape 7"/>
          <p:cNvSpPr/>
          <p:nvPr/>
        </p:nvSpPr>
        <p:spPr>
          <a:xfrm>
            <a:off x="8503920" y="1645920"/>
            <a:ext cx="128016" cy="128016"/>
          </a:xfrm>
          <a:prstGeom prst="ellipse">
            <a:avLst/>
          </a:prstGeom>
          <a:solidFill>
            <a:srgbClr val="0A9396">
              <a:alpha val="60000"/>
            </a:srgbClr>
          </a:solidFill>
          <a:ln w="12700">
            <a:solidFill>
              <a:srgbClr val="0A9396"/>
            </a:solidFill>
            <a:prstDash val="solid"/>
          </a:ln>
        </p:spPr>
      </p:sp>
      <p:sp>
        <p:nvSpPr>
          <p:cNvPr id="10" name="Shape 8"/>
          <p:cNvSpPr/>
          <p:nvPr/>
        </p:nvSpPr>
        <p:spPr>
          <a:xfrm>
            <a:off x="8503920" y="2194560"/>
            <a:ext cx="128016" cy="128016"/>
          </a:xfrm>
          <a:prstGeom prst="ellipse">
            <a:avLst/>
          </a:prstGeom>
          <a:solidFill>
            <a:srgbClr val="0A9396">
              <a:alpha val="60000"/>
            </a:srgbClr>
          </a:solidFill>
          <a:ln w="12700">
            <a:solidFill>
              <a:srgbClr val="0A9396"/>
            </a:solidFill>
            <a:prstDash val="solid"/>
          </a:ln>
        </p:spPr>
      </p:sp>
      <p:sp>
        <p:nvSpPr>
          <p:cNvPr id="11" name="Shape 9"/>
          <p:cNvSpPr/>
          <p:nvPr/>
        </p:nvSpPr>
        <p:spPr>
          <a:xfrm>
            <a:off x="8503920" y="2743200"/>
            <a:ext cx="128016" cy="128016"/>
          </a:xfrm>
          <a:prstGeom prst="ellipse">
            <a:avLst/>
          </a:prstGeom>
          <a:solidFill>
            <a:srgbClr val="0A9396">
              <a:alpha val="60000"/>
            </a:srgbClr>
          </a:solidFill>
          <a:ln w="12700">
            <a:solidFill>
              <a:srgbClr val="0A9396"/>
            </a:solidFill>
            <a:prstDash val="solid"/>
          </a:ln>
        </p:spPr>
      </p:sp>
      <p:sp>
        <p:nvSpPr>
          <p:cNvPr id="12" name="Shape 10"/>
          <p:cNvSpPr/>
          <p:nvPr/>
        </p:nvSpPr>
        <p:spPr>
          <a:xfrm>
            <a:off x="8503920" y="3291840"/>
            <a:ext cx="128016" cy="128016"/>
          </a:xfrm>
          <a:prstGeom prst="ellipse">
            <a:avLst/>
          </a:prstGeom>
          <a:solidFill>
            <a:srgbClr val="0A9396">
              <a:alpha val="60000"/>
            </a:srgbClr>
          </a:solidFill>
          <a:ln w="12700">
            <a:solidFill>
              <a:srgbClr val="0A9396"/>
            </a:solidFill>
            <a:prstDash val="solid"/>
          </a:ln>
        </p:spPr>
      </p:sp>
      <p:sp>
        <p:nvSpPr>
          <p:cNvPr id="13" name="Shape 11"/>
          <p:cNvSpPr/>
          <p:nvPr/>
        </p:nvSpPr>
        <p:spPr>
          <a:xfrm>
            <a:off x="8503920" y="3840480"/>
            <a:ext cx="128016" cy="128016"/>
          </a:xfrm>
          <a:prstGeom prst="ellipse">
            <a:avLst/>
          </a:prstGeom>
          <a:solidFill>
            <a:srgbClr val="0A9396">
              <a:alpha val="60000"/>
            </a:srgbClr>
          </a:solidFill>
          <a:ln w="12700">
            <a:solidFill>
              <a:srgbClr val="0A9396"/>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algn="l" indent="0" marL="0">
              <a:buNone/>
            </a:pPr>
            <a:r>
              <a:rPr lang="en-US" sz="3000" b="1" dirty="0">
                <a:solidFill>
                  <a:srgbClr val="0D1B2A"/>
                </a:solidFill>
                <a:latin typeface="Cambria" pitchFamily="34" charset="0"/>
                <a:ea typeface="Cambria" pitchFamily="34" charset="-122"/>
                <a:cs typeface="Cambria" pitchFamily="34" charset="-120"/>
              </a:rPr>
              <a:t>What we cover today</a:t>
            </a:r>
            <a:endParaRPr lang="en-US" sz="3000" dirty="0"/>
          </a:p>
        </p:txBody>
      </p:sp>
      <p:sp>
        <p:nvSpPr>
          <p:cNvPr id="3" name="Shape 1"/>
          <p:cNvSpPr/>
          <p:nvPr/>
        </p:nvSpPr>
        <p:spPr>
          <a:xfrm>
            <a:off x="457200" y="868680"/>
            <a:ext cx="8229600" cy="0"/>
          </a:xfrm>
          <a:prstGeom prst="line">
            <a:avLst/>
          </a:prstGeom>
          <a:noFill/>
          <a:ln w="25400">
            <a:solidFill>
              <a:srgbClr val="0A9396"/>
            </a:solidFill>
            <a:prstDash val="solid"/>
          </a:ln>
        </p:spPr>
      </p:sp>
      <p:sp>
        <p:nvSpPr>
          <p:cNvPr id="4" name="Shape 2"/>
          <p:cNvSpPr/>
          <p:nvPr/>
        </p:nvSpPr>
        <p:spPr>
          <a:xfrm>
            <a:off x="457200" y="1097280"/>
            <a:ext cx="384048" cy="384048"/>
          </a:xfrm>
          <a:prstGeom prst="ellipse">
            <a:avLst/>
          </a:prstGeom>
          <a:solidFill>
            <a:srgbClr val="0A9396"/>
          </a:solidFill>
          <a:ln w="12700">
            <a:solidFill>
              <a:srgbClr val="0A9396"/>
            </a:solidFill>
            <a:prstDash val="solid"/>
          </a:ln>
        </p:spPr>
      </p:sp>
      <p:sp>
        <p:nvSpPr>
          <p:cNvPr id="5" name="Text 3"/>
          <p:cNvSpPr/>
          <p:nvPr/>
        </p:nvSpPr>
        <p:spPr>
          <a:xfrm>
            <a:off x="457200" y="1097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4"/>
          <p:cNvSpPr/>
          <p:nvPr/>
        </p:nvSpPr>
        <p:spPr>
          <a:xfrm>
            <a:off x="960120" y="1078992"/>
            <a:ext cx="3474720" cy="420624"/>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Variables and basic data types</a:t>
            </a:r>
            <a:endParaRPr lang="en-US" sz="1500" dirty="0"/>
          </a:p>
        </p:txBody>
      </p:sp>
      <p:sp>
        <p:nvSpPr>
          <p:cNvPr id="7" name="Shape 5"/>
          <p:cNvSpPr/>
          <p:nvPr/>
        </p:nvSpPr>
        <p:spPr>
          <a:xfrm>
            <a:off x="457200" y="1938528"/>
            <a:ext cx="384048" cy="384048"/>
          </a:xfrm>
          <a:prstGeom prst="ellipse">
            <a:avLst/>
          </a:prstGeom>
          <a:solidFill>
            <a:srgbClr val="0A9396"/>
          </a:solidFill>
          <a:ln w="12700">
            <a:solidFill>
              <a:srgbClr val="0A9396"/>
            </a:solidFill>
            <a:prstDash val="solid"/>
          </a:ln>
        </p:spPr>
      </p:sp>
      <p:sp>
        <p:nvSpPr>
          <p:cNvPr id="8" name="Text 6"/>
          <p:cNvSpPr/>
          <p:nvPr/>
        </p:nvSpPr>
        <p:spPr>
          <a:xfrm>
            <a:off x="457200" y="1938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9" name="Text 7"/>
          <p:cNvSpPr/>
          <p:nvPr/>
        </p:nvSpPr>
        <p:spPr>
          <a:xfrm>
            <a:off x="960120" y="1920240"/>
            <a:ext cx="3474720" cy="420624"/>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Lists, storing many values</a:t>
            </a:r>
            <a:endParaRPr lang="en-US" sz="1500" dirty="0"/>
          </a:p>
        </p:txBody>
      </p:sp>
      <p:sp>
        <p:nvSpPr>
          <p:cNvPr id="10" name="Shape 8"/>
          <p:cNvSpPr/>
          <p:nvPr/>
        </p:nvSpPr>
        <p:spPr>
          <a:xfrm>
            <a:off x="457200" y="2779776"/>
            <a:ext cx="384048" cy="384048"/>
          </a:xfrm>
          <a:prstGeom prst="ellipse">
            <a:avLst/>
          </a:prstGeom>
          <a:solidFill>
            <a:srgbClr val="0A9396"/>
          </a:solidFill>
          <a:ln w="12700">
            <a:solidFill>
              <a:srgbClr val="0A9396"/>
            </a:solidFill>
            <a:prstDash val="solid"/>
          </a:ln>
        </p:spPr>
      </p:sp>
      <p:sp>
        <p:nvSpPr>
          <p:cNvPr id="11" name="Text 9"/>
          <p:cNvSpPr/>
          <p:nvPr/>
        </p:nvSpPr>
        <p:spPr>
          <a:xfrm>
            <a:off x="457200" y="2779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2" name="Text 10"/>
          <p:cNvSpPr/>
          <p:nvPr/>
        </p:nvSpPr>
        <p:spPr>
          <a:xfrm>
            <a:off x="960120" y="2761488"/>
            <a:ext cx="3474720" cy="420624"/>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Conditionals, making decisions</a:t>
            </a:r>
            <a:endParaRPr lang="en-US" sz="1500" dirty="0"/>
          </a:p>
        </p:txBody>
      </p:sp>
      <p:sp>
        <p:nvSpPr>
          <p:cNvPr id="13" name="Shape 11"/>
          <p:cNvSpPr/>
          <p:nvPr/>
        </p:nvSpPr>
        <p:spPr>
          <a:xfrm>
            <a:off x="4754880" y="1097280"/>
            <a:ext cx="384048" cy="384048"/>
          </a:xfrm>
          <a:prstGeom prst="ellipse">
            <a:avLst/>
          </a:prstGeom>
          <a:solidFill>
            <a:srgbClr val="0A9396"/>
          </a:solidFill>
          <a:ln w="12700">
            <a:solidFill>
              <a:srgbClr val="0A9396"/>
            </a:solidFill>
            <a:prstDash val="solid"/>
          </a:ln>
        </p:spPr>
      </p:sp>
      <p:sp>
        <p:nvSpPr>
          <p:cNvPr id="14" name="Text 12"/>
          <p:cNvSpPr/>
          <p:nvPr/>
        </p:nvSpPr>
        <p:spPr>
          <a:xfrm>
            <a:off x="4754880" y="1097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5" name="Text 13"/>
          <p:cNvSpPr/>
          <p:nvPr/>
        </p:nvSpPr>
        <p:spPr>
          <a:xfrm>
            <a:off x="5257800" y="1078992"/>
            <a:ext cx="3474720" cy="420624"/>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Loops, repeating an action</a:t>
            </a:r>
            <a:endParaRPr lang="en-US" sz="1500" dirty="0"/>
          </a:p>
        </p:txBody>
      </p:sp>
      <p:sp>
        <p:nvSpPr>
          <p:cNvPr id="16" name="Shape 14"/>
          <p:cNvSpPr/>
          <p:nvPr/>
        </p:nvSpPr>
        <p:spPr>
          <a:xfrm>
            <a:off x="4754880" y="1938528"/>
            <a:ext cx="384048" cy="384048"/>
          </a:xfrm>
          <a:prstGeom prst="ellipse">
            <a:avLst/>
          </a:prstGeom>
          <a:solidFill>
            <a:srgbClr val="0A9396"/>
          </a:solidFill>
          <a:ln w="12700">
            <a:solidFill>
              <a:srgbClr val="0A9396"/>
            </a:solidFill>
            <a:prstDash val="solid"/>
          </a:ln>
        </p:spPr>
      </p:sp>
      <p:sp>
        <p:nvSpPr>
          <p:cNvPr id="17" name="Text 15"/>
          <p:cNvSpPr/>
          <p:nvPr/>
        </p:nvSpPr>
        <p:spPr>
          <a:xfrm>
            <a:off x="4754880" y="1938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8" name="Text 16"/>
          <p:cNvSpPr/>
          <p:nvPr/>
        </p:nvSpPr>
        <p:spPr>
          <a:xfrm>
            <a:off x="5257800" y="1920240"/>
            <a:ext cx="3474720" cy="420624"/>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Functions, reusable code</a:t>
            </a:r>
            <a:endParaRPr lang="en-US" sz="1500" dirty="0"/>
          </a:p>
        </p:txBody>
      </p:sp>
      <p:sp>
        <p:nvSpPr>
          <p:cNvPr id="19" name="Shape 17"/>
          <p:cNvSpPr/>
          <p:nvPr/>
        </p:nvSpPr>
        <p:spPr>
          <a:xfrm>
            <a:off x="4754880" y="2779776"/>
            <a:ext cx="384048" cy="384048"/>
          </a:xfrm>
          <a:prstGeom prst="ellipse">
            <a:avLst/>
          </a:prstGeom>
          <a:solidFill>
            <a:srgbClr val="0A9396"/>
          </a:solidFill>
          <a:ln w="12700">
            <a:solidFill>
              <a:srgbClr val="0A9396"/>
            </a:solidFill>
            <a:prstDash val="solid"/>
          </a:ln>
        </p:spPr>
      </p:sp>
      <p:sp>
        <p:nvSpPr>
          <p:cNvPr id="20" name="Text 18"/>
          <p:cNvSpPr/>
          <p:nvPr/>
        </p:nvSpPr>
        <p:spPr>
          <a:xfrm>
            <a:off x="4754880" y="2779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1" name="Text 19"/>
          <p:cNvSpPr/>
          <p:nvPr/>
        </p:nvSpPr>
        <p:spPr>
          <a:xfrm>
            <a:off x="5257800" y="2761488"/>
            <a:ext cx="3474720" cy="420624"/>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Why this all matters for quantum code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9396"/>
          </a:solidFill>
          <a:ln w="12700">
            <a:solidFill>
              <a:srgbClr val="0A9396"/>
            </a:solidFill>
            <a:prstDash val="solid"/>
          </a:ln>
        </p:spPr>
      </p:sp>
      <p:sp>
        <p:nvSpPr>
          <p:cNvPr id="3" name="Shape 1"/>
          <p:cNvSpPr/>
          <p:nvPr/>
        </p:nvSpPr>
        <p:spPr>
          <a:xfrm>
            <a:off x="548640" y="2148840"/>
            <a:ext cx="384048" cy="384048"/>
          </a:xfrm>
          <a:prstGeom prst="ellipse">
            <a:avLst/>
          </a:prstGeom>
          <a:solidFill>
            <a:srgbClr val="94D2BD"/>
          </a:solidFill>
          <a:ln w="12700">
            <a:solidFill>
              <a:srgbClr val="94D2BD"/>
            </a:solidFill>
            <a:prstDash val="solid"/>
          </a:ln>
        </p:spPr>
      </p:sp>
      <p:sp>
        <p:nvSpPr>
          <p:cNvPr id="4" name="Text 2"/>
          <p:cNvSpPr/>
          <p:nvPr/>
        </p:nvSpPr>
        <p:spPr>
          <a:xfrm>
            <a:off x="548640" y="2148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p:nvPr/>
        </p:nvSpPr>
        <p:spPr>
          <a:xfrm>
            <a:off x="1097280" y="1737360"/>
            <a:ext cx="7315200" cy="1645920"/>
          </a:xfrm>
          <a:prstGeom prst="rect">
            <a:avLst/>
          </a:prstGeom>
          <a:noFill/>
          <a:ln/>
        </p:spPr>
        <p:txBody>
          <a:bodyPr wrap="square" lIns="0" tIns="0" rIns="0" bIns="0" rtlCol="0" anchor="ctr"/>
          <a:lstStyle/>
          <a:p>
            <a:pPr algn="l" indent="0" marL="0">
              <a:buNone/>
            </a:pPr>
            <a:r>
              <a:rPr lang="en-US" sz="3600" b="1" dirty="0">
                <a:solidFill>
                  <a:srgbClr val="FFFFFF"/>
                </a:solidFill>
                <a:latin typeface="Cambria" pitchFamily="34" charset="0"/>
                <a:ea typeface="Cambria" pitchFamily="34" charset="-122"/>
                <a:cs typeface="Cambria" pitchFamily="34" charset="-120"/>
              </a:rPr>
              <a:t>Variables and</a:t>
            </a:r>
            <a:endParaRPr lang="en-US" sz="3600" dirty="0"/>
          </a:p>
          <a:p>
            <a:pPr algn="l" indent="0" marL="0">
              <a:buNone/>
            </a:pPr>
            <a:r>
              <a:rPr lang="en-US" sz="3600" b="1" dirty="0">
                <a:solidFill>
                  <a:srgbClr val="FFFFFF"/>
                </a:solidFill>
                <a:latin typeface="Cambria" pitchFamily="34" charset="0"/>
                <a:ea typeface="Cambria" pitchFamily="34" charset="-122"/>
                <a:cs typeface="Cambria" pitchFamily="34" charset="-120"/>
              </a:rPr>
              <a:t>Data Types</a:t>
            </a:r>
            <a:endParaRPr lang="en-US" sz="3600" dirty="0"/>
          </a:p>
        </p:txBody>
      </p:sp>
      <p:sp>
        <p:nvSpPr>
          <p:cNvPr id="6" name="Text 4"/>
          <p:cNvSpPr/>
          <p:nvPr/>
        </p:nvSpPr>
        <p:spPr>
          <a:xfrm>
            <a:off x="1097280" y="3246120"/>
            <a:ext cx="7315200" cy="365760"/>
          </a:xfrm>
          <a:prstGeom prst="rect">
            <a:avLst/>
          </a:prstGeom>
          <a:noFill/>
          <a:ln/>
        </p:spPr>
        <p:txBody>
          <a:bodyPr wrap="square" lIns="0" tIns="0" rIns="0" bIns="0" rtlCol="0" anchor="ctr"/>
          <a:lstStyle/>
          <a:p>
            <a:pPr indent="0" marL="0">
              <a:buNone/>
            </a:pPr>
            <a:r>
              <a:rPr lang="en-US" sz="1600" dirty="0">
                <a:solidFill>
                  <a:srgbClr val="94D2BD"/>
                </a:solidFill>
                <a:latin typeface="Calibri" pitchFamily="34" charset="0"/>
                <a:ea typeface="Calibri" pitchFamily="34" charset="-122"/>
                <a:cs typeface="Calibri" pitchFamily="34" charset="-120"/>
              </a:rPr>
              <a:t>The labelled box idea</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3EE"/>
        </a:solidFill>
      </p:bgPr>
    </p:bg>
    <p:spTree>
      <p:nvGrpSpPr>
        <p:cNvPr id="1" name=""/>
        <p:cNvGrpSpPr/>
        <p:nvPr/>
      </p:nvGrpSpPr>
      <p:grpSpPr>
        <a:xfrm>
          <a:off x="0" y="0"/>
          <a:ext cx="0" cy="0"/>
          <a:chOff x="0" y="0"/>
          <a:chExt cx="0" cy="0"/>
        </a:xfrm>
      </p:grpSpPr>
      <p:sp>
        <p:nvSpPr>
          <p:cNvPr id="2" name="Shape 0"/>
          <p:cNvSpPr/>
          <p:nvPr/>
        </p:nvSpPr>
        <p:spPr>
          <a:xfrm>
            <a:off x="457200" y="228600"/>
            <a:ext cx="1645920" cy="256032"/>
          </a:xfrm>
          <a:prstGeom prst="roundRect">
            <a:avLst>
              <a:gd name="adj" fmla="val 50000"/>
            </a:avLst>
          </a:prstGeom>
          <a:solidFill>
            <a:srgbClr val="0A9396"/>
          </a:solidFill>
          <a:ln w="12700">
            <a:solidFill>
              <a:srgbClr val="0A9396"/>
            </a:solidFill>
            <a:prstDash val="solid"/>
          </a:ln>
        </p:spPr>
      </p:sp>
      <p:sp>
        <p:nvSpPr>
          <p:cNvPr id="3" name="Text 1"/>
          <p:cNvSpPr/>
          <p:nvPr/>
        </p:nvSpPr>
        <p:spPr>
          <a:xfrm>
            <a:off x="457200" y="228600"/>
            <a:ext cx="1645920" cy="256032"/>
          </a:xfrm>
          <a:prstGeom prst="rect">
            <a:avLst/>
          </a:prstGeom>
          <a:noFill/>
          <a:ln/>
        </p:spPr>
        <p:txBody>
          <a:bodyPr wrap="square" lIns="0" tIns="0" rIns="0" bIns="0" rtlCol="0" anchor="ctr"/>
          <a:lstStyle/>
          <a:p>
            <a:pPr algn="ctr" indent="0" marL="0">
              <a:buNone/>
            </a:pPr>
            <a:r>
              <a:rPr lang="en-US" sz="1000" b="1" spc="100" kern="0" dirty="0">
                <a:solidFill>
                  <a:srgbClr val="FFFFFF"/>
                </a:solidFill>
              </a:rPr>
              <a:t>01  VARIABLES</a:t>
            </a:r>
            <a:endParaRPr lang="en-US" sz="1000" dirty="0"/>
          </a:p>
        </p:txBody>
      </p:sp>
      <p:sp>
        <p:nvSpPr>
          <p:cNvPr id="4" name="Text 2"/>
          <p:cNvSpPr/>
          <p:nvPr/>
        </p:nvSpPr>
        <p:spPr>
          <a:xfrm>
            <a:off x="457200" y="594360"/>
            <a:ext cx="8229600" cy="502920"/>
          </a:xfrm>
          <a:prstGeom prst="rect">
            <a:avLst/>
          </a:prstGeom>
          <a:noFill/>
          <a:ln/>
        </p:spPr>
        <p:txBody>
          <a:bodyPr wrap="square" lIns="0" tIns="0" rIns="0" bIns="0" rtlCol="0" anchor="ctr"/>
          <a:lstStyle/>
          <a:p>
            <a:pPr indent="0" marL="0">
              <a:buNone/>
            </a:pPr>
            <a:r>
              <a:rPr lang="en-US" sz="2600" b="1" dirty="0">
                <a:solidFill>
                  <a:srgbClr val="0D1B2A"/>
                </a:solidFill>
                <a:latin typeface="Cambria" pitchFamily="34" charset="0"/>
                <a:ea typeface="Cambria" pitchFamily="34" charset="-122"/>
                <a:cs typeface="Cambria" pitchFamily="34" charset="-120"/>
              </a:rPr>
              <a:t>A variable is a labelled box</a:t>
            </a:r>
            <a:endParaRPr lang="en-US" sz="2600" dirty="0"/>
          </a:p>
        </p:txBody>
      </p:sp>
      <p:sp>
        <p:nvSpPr>
          <p:cNvPr id="5" name="Text 3"/>
          <p:cNvSpPr/>
          <p:nvPr/>
        </p:nvSpPr>
        <p:spPr>
          <a:xfrm>
            <a:off x="457200" y="1143000"/>
            <a:ext cx="4754880" cy="731520"/>
          </a:xfrm>
          <a:prstGeom prst="rect">
            <a:avLst/>
          </a:prstGeom>
          <a:noFill/>
          <a:ln/>
        </p:spPr>
        <p:txBody>
          <a:bodyPr wrap="square" lIns="0" tIns="0" rIns="0" bIns="0" rtlCol="0" anchor="ctr"/>
          <a:lstStyle/>
          <a:p>
            <a:pPr indent="0" marL="0">
              <a:buNone/>
            </a:pPr>
            <a:r>
              <a:rPr lang="en-US" sz="1400" dirty="0">
                <a:solidFill>
                  <a:srgbClr val="3D5A6E"/>
                </a:solidFill>
                <a:latin typeface="Calibri" pitchFamily="34" charset="0"/>
                <a:ea typeface="Calibri" pitchFamily="34" charset="-122"/>
                <a:cs typeface="Calibri" pitchFamily="34" charset="-120"/>
              </a:rPr>
              <a:t>You put a value inside the box. From then on, you refer to the box by its label instead of repeating the value every time.</a:t>
            </a:r>
            <a:endParaRPr lang="en-US" sz="1400" dirty="0"/>
          </a:p>
        </p:txBody>
      </p:sp>
      <p:sp>
        <p:nvSpPr>
          <p:cNvPr id="6" name="Shape 4"/>
          <p:cNvSpPr/>
          <p:nvPr/>
        </p:nvSpPr>
        <p:spPr>
          <a:xfrm>
            <a:off x="457200" y="2011680"/>
            <a:ext cx="3931920" cy="1051560"/>
          </a:xfrm>
          <a:prstGeom prst="roundRect">
            <a:avLst>
              <a:gd name="adj" fmla="val 8696"/>
            </a:avLst>
          </a:prstGeom>
          <a:solidFill>
            <a:srgbClr val="FFFFFF"/>
          </a:solidFill>
          <a:ln w="12700">
            <a:solidFill>
              <a:srgbClr val="0A9396"/>
            </a:solidFill>
            <a:prstDash val="solid"/>
          </a:ln>
          <a:effectLst>
            <a:outerShdw sx="100000" sy="100000" kx="0" ky="0" algn="bl" rotWithShape="0" blurRad="63500" dist="25400" dir="2700000">
              <a:srgbClr val="000000">
                <a:alpha val="10000"/>
              </a:srgbClr>
            </a:outerShdw>
          </a:effectLst>
        </p:spPr>
      </p:sp>
      <p:sp>
        <p:nvSpPr>
          <p:cNvPr id="7" name="Text 5"/>
          <p:cNvSpPr/>
          <p:nvPr/>
        </p:nvSpPr>
        <p:spPr>
          <a:xfrm>
            <a:off x="621792" y="2103120"/>
            <a:ext cx="3566160" cy="292608"/>
          </a:xfrm>
          <a:prstGeom prst="rect">
            <a:avLst/>
          </a:prstGeom>
          <a:noFill/>
          <a:ln/>
        </p:spPr>
        <p:txBody>
          <a:bodyPr wrap="square" lIns="0" tIns="0" rIns="0" bIns="0" rtlCol="0" anchor="ctr"/>
          <a:lstStyle/>
          <a:p>
            <a:pPr indent="0" marL="0">
              <a:buNone/>
            </a:pPr>
            <a:r>
              <a:rPr lang="en-US" sz="1400" b="1" dirty="0">
                <a:solidFill>
                  <a:srgbClr val="0A9396"/>
                </a:solidFill>
                <a:latin typeface="Calibri" pitchFamily="34" charset="0"/>
                <a:ea typeface="Calibri" pitchFamily="34" charset="-122"/>
                <a:cs typeface="Calibri" pitchFamily="34" charset="-120"/>
              </a:rPr>
              <a:t>Integer</a:t>
            </a:r>
            <a:endParaRPr lang="en-US" sz="1400" dirty="0"/>
          </a:p>
        </p:txBody>
      </p:sp>
      <p:sp>
        <p:nvSpPr>
          <p:cNvPr id="8" name="Text 6"/>
          <p:cNvSpPr/>
          <p:nvPr/>
        </p:nvSpPr>
        <p:spPr>
          <a:xfrm>
            <a:off x="621792" y="2359152"/>
            <a:ext cx="3566160" cy="256032"/>
          </a:xfrm>
          <a:prstGeom prst="rect">
            <a:avLst/>
          </a:prstGeom>
          <a:noFill/>
          <a:ln/>
        </p:spPr>
        <p:txBody>
          <a:bodyPr wrap="square" lIns="0" tIns="0" rIns="0" bIns="0" rtlCol="0" anchor="ctr"/>
          <a:lstStyle/>
          <a:p>
            <a:pPr indent="0" marL="0">
              <a:buNone/>
            </a:pPr>
            <a:r>
              <a:rPr lang="en-US" sz="1200" dirty="0">
                <a:solidFill>
                  <a:srgbClr val="3D5A6E"/>
                </a:solidFill>
                <a:latin typeface="Calibri" pitchFamily="34" charset="0"/>
                <a:ea typeface="Calibri" pitchFamily="34" charset="-122"/>
                <a:cs typeface="Calibri" pitchFamily="34" charset="-120"/>
              </a:rPr>
              <a:t>Whole number</a:t>
            </a:r>
            <a:endParaRPr lang="en-US" sz="1200" dirty="0"/>
          </a:p>
        </p:txBody>
      </p:sp>
      <p:sp>
        <p:nvSpPr>
          <p:cNvPr id="9" name="Text 7"/>
          <p:cNvSpPr/>
          <p:nvPr/>
        </p:nvSpPr>
        <p:spPr>
          <a:xfrm>
            <a:off x="621792" y="2606040"/>
            <a:ext cx="3566160" cy="292608"/>
          </a:xfrm>
          <a:prstGeom prst="rect">
            <a:avLst/>
          </a:prstGeom>
          <a:noFill/>
          <a:ln/>
        </p:spPr>
        <p:txBody>
          <a:bodyPr wrap="square" lIns="0" tIns="0" rIns="0" bIns="0" rtlCol="0" anchor="ctr"/>
          <a:lstStyle/>
          <a:p>
            <a:pPr indent="0" marL="0">
              <a:buNone/>
            </a:pPr>
            <a:r>
              <a:rPr lang="en-US" sz="1200" b="1" dirty="0">
                <a:solidFill>
                  <a:srgbClr val="0D1B2A"/>
                </a:solidFill>
                <a:latin typeface="Courier New" pitchFamily="34" charset="0"/>
                <a:ea typeface="Courier New" pitchFamily="34" charset="-122"/>
                <a:cs typeface="Courier New" pitchFamily="34" charset="-120"/>
              </a:rPr>
              <a:t>5  or  -3</a:t>
            </a:r>
            <a:endParaRPr lang="en-US" sz="1200" dirty="0"/>
          </a:p>
        </p:txBody>
      </p:sp>
      <p:sp>
        <p:nvSpPr>
          <p:cNvPr id="10" name="Shape 8"/>
          <p:cNvSpPr/>
          <p:nvPr/>
        </p:nvSpPr>
        <p:spPr>
          <a:xfrm>
            <a:off x="4754880" y="2011680"/>
            <a:ext cx="3931920" cy="1051560"/>
          </a:xfrm>
          <a:prstGeom prst="roundRect">
            <a:avLst>
              <a:gd name="adj" fmla="val 8696"/>
            </a:avLst>
          </a:prstGeom>
          <a:solidFill>
            <a:srgbClr val="FFFFFF"/>
          </a:solidFill>
          <a:ln w="12700">
            <a:solidFill>
              <a:srgbClr val="0A9396"/>
            </a:solidFill>
            <a:prstDash val="solid"/>
          </a:ln>
          <a:effectLst>
            <a:outerShdw sx="100000" sy="100000" kx="0" ky="0" algn="bl" rotWithShape="0" blurRad="63500" dist="25400" dir="2700000">
              <a:srgbClr val="000000">
                <a:alpha val="10000"/>
              </a:srgbClr>
            </a:outerShdw>
          </a:effectLst>
        </p:spPr>
      </p:sp>
      <p:sp>
        <p:nvSpPr>
          <p:cNvPr id="11" name="Text 9"/>
          <p:cNvSpPr/>
          <p:nvPr/>
        </p:nvSpPr>
        <p:spPr>
          <a:xfrm>
            <a:off x="4919472" y="2103120"/>
            <a:ext cx="3566160" cy="292608"/>
          </a:xfrm>
          <a:prstGeom prst="rect">
            <a:avLst/>
          </a:prstGeom>
          <a:noFill/>
          <a:ln/>
        </p:spPr>
        <p:txBody>
          <a:bodyPr wrap="square" lIns="0" tIns="0" rIns="0" bIns="0" rtlCol="0" anchor="ctr"/>
          <a:lstStyle/>
          <a:p>
            <a:pPr indent="0" marL="0">
              <a:buNone/>
            </a:pPr>
            <a:r>
              <a:rPr lang="en-US" sz="1400" b="1" dirty="0">
                <a:solidFill>
                  <a:srgbClr val="0A9396"/>
                </a:solidFill>
                <a:latin typeface="Calibri" pitchFamily="34" charset="0"/>
                <a:ea typeface="Calibri" pitchFamily="34" charset="-122"/>
                <a:cs typeface="Calibri" pitchFamily="34" charset="-120"/>
              </a:rPr>
              <a:t>Float</a:t>
            </a:r>
            <a:endParaRPr lang="en-US" sz="1400" dirty="0"/>
          </a:p>
        </p:txBody>
      </p:sp>
      <p:sp>
        <p:nvSpPr>
          <p:cNvPr id="12" name="Text 10"/>
          <p:cNvSpPr/>
          <p:nvPr/>
        </p:nvSpPr>
        <p:spPr>
          <a:xfrm>
            <a:off x="4919472" y="2359152"/>
            <a:ext cx="3566160" cy="256032"/>
          </a:xfrm>
          <a:prstGeom prst="rect">
            <a:avLst/>
          </a:prstGeom>
          <a:noFill/>
          <a:ln/>
        </p:spPr>
        <p:txBody>
          <a:bodyPr wrap="square" lIns="0" tIns="0" rIns="0" bIns="0" rtlCol="0" anchor="ctr"/>
          <a:lstStyle/>
          <a:p>
            <a:pPr indent="0" marL="0">
              <a:buNone/>
            </a:pPr>
            <a:r>
              <a:rPr lang="en-US" sz="1200" dirty="0">
                <a:solidFill>
                  <a:srgbClr val="3D5A6E"/>
                </a:solidFill>
                <a:latin typeface="Calibri" pitchFamily="34" charset="0"/>
                <a:ea typeface="Calibri" pitchFamily="34" charset="-122"/>
                <a:cs typeface="Calibri" pitchFamily="34" charset="-120"/>
              </a:rPr>
              <a:t>Decimal number</a:t>
            </a:r>
            <a:endParaRPr lang="en-US" sz="1200" dirty="0"/>
          </a:p>
        </p:txBody>
      </p:sp>
      <p:sp>
        <p:nvSpPr>
          <p:cNvPr id="13" name="Text 11"/>
          <p:cNvSpPr/>
          <p:nvPr/>
        </p:nvSpPr>
        <p:spPr>
          <a:xfrm>
            <a:off x="4919472" y="2606040"/>
            <a:ext cx="3566160" cy="292608"/>
          </a:xfrm>
          <a:prstGeom prst="rect">
            <a:avLst/>
          </a:prstGeom>
          <a:noFill/>
          <a:ln/>
        </p:spPr>
        <p:txBody>
          <a:bodyPr wrap="square" lIns="0" tIns="0" rIns="0" bIns="0" rtlCol="0" anchor="ctr"/>
          <a:lstStyle/>
          <a:p>
            <a:pPr indent="0" marL="0">
              <a:buNone/>
            </a:pPr>
            <a:r>
              <a:rPr lang="en-US" sz="1200" b="1" dirty="0">
                <a:solidFill>
                  <a:srgbClr val="0D1B2A"/>
                </a:solidFill>
                <a:latin typeface="Courier New" pitchFamily="34" charset="0"/>
                <a:ea typeface="Courier New" pitchFamily="34" charset="-122"/>
                <a:cs typeface="Courier New" pitchFamily="34" charset="-120"/>
              </a:rPr>
              <a:t>3.14  or  5.0</a:t>
            </a:r>
            <a:endParaRPr lang="en-US" sz="1200" dirty="0"/>
          </a:p>
        </p:txBody>
      </p:sp>
      <p:sp>
        <p:nvSpPr>
          <p:cNvPr id="14" name="Shape 12"/>
          <p:cNvSpPr/>
          <p:nvPr/>
        </p:nvSpPr>
        <p:spPr>
          <a:xfrm>
            <a:off x="457200" y="3246120"/>
            <a:ext cx="3931920" cy="1051560"/>
          </a:xfrm>
          <a:prstGeom prst="roundRect">
            <a:avLst>
              <a:gd name="adj" fmla="val 8696"/>
            </a:avLst>
          </a:prstGeom>
          <a:solidFill>
            <a:srgbClr val="FFFFFF"/>
          </a:solidFill>
          <a:ln w="12700">
            <a:solidFill>
              <a:srgbClr val="0A9396"/>
            </a:solidFill>
            <a:prstDash val="solid"/>
          </a:ln>
          <a:effectLst>
            <a:outerShdw sx="100000" sy="100000" kx="0" ky="0" algn="bl" rotWithShape="0" blurRad="63500" dist="25400" dir="2700000">
              <a:srgbClr val="000000">
                <a:alpha val="10000"/>
              </a:srgbClr>
            </a:outerShdw>
          </a:effectLst>
        </p:spPr>
      </p:sp>
      <p:sp>
        <p:nvSpPr>
          <p:cNvPr id="15" name="Text 13"/>
          <p:cNvSpPr/>
          <p:nvPr/>
        </p:nvSpPr>
        <p:spPr>
          <a:xfrm>
            <a:off x="621792" y="3337560"/>
            <a:ext cx="3566160" cy="292608"/>
          </a:xfrm>
          <a:prstGeom prst="rect">
            <a:avLst/>
          </a:prstGeom>
          <a:noFill/>
          <a:ln/>
        </p:spPr>
        <p:txBody>
          <a:bodyPr wrap="square" lIns="0" tIns="0" rIns="0" bIns="0" rtlCol="0" anchor="ctr"/>
          <a:lstStyle/>
          <a:p>
            <a:pPr indent="0" marL="0">
              <a:buNone/>
            </a:pPr>
            <a:r>
              <a:rPr lang="en-US" sz="1400" b="1" dirty="0">
                <a:solidFill>
                  <a:srgbClr val="0A9396"/>
                </a:solidFill>
                <a:latin typeface="Calibri" pitchFamily="34" charset="0"/>
                <a:ea typeface="Calibri" pitchFamily="34" charset="-122"/>
                <a:cs typeface="Calibri" pitchFamily="34" charset="-120"/>
              </a:rPr>
              <a:t>String</a:t>
            </a:r>
            <a:endParaRPr lang="en-US" sz="1400" dirty="0"/>
          </a:p>
        </p:txBody>
      </p:sp>
      <p:sp>
        <p:nvSpPr>
          <p:cNvPr id="16" name="Text 14"/>
          <p:cNvSpPr/>
          <p:nvPr/>
        </p:nvSpPr>
        <p:spPr>
          <a:xfrm>
            <a:off x="621792" y="3593592"/>
            <a:ext cx="3566160" cy="256032"/>
          </a:xfrm>
          <a:prstGeom prst="rect">
            <a:avLst/>
          </a:prstGeom>
          <a:noFill/>
          <a:ln/>
        </p:spPr>
        <p:txBody>
          <a:bodyPr wrap="square" lIns="0" tIns="0" rIns="0" bIns="0" rtlCol="0" anchor="ctr"/>
          <a:lstStyle/>
          <a:p>
            <a:pPr indent="0" marL="0">
              <a:buNone/>
            </a:pPr>
            <a:r>
              <a:rPr lang="en-US" sz="1200" dirty="0">
                <a:solidFill>
                  <a:srgbClr val="3D5A6E"/>
                </a:solidFill>
                <a:latin typeface="Calibri" pitchFamily="34" charset="0"/>
                <a:ea typeface="Calibri" pitchFamily="34" charset="-122"/>
                <a:cs typeface="Calibri" pitchFamily="34" charset="-120"/>
              </a:rPr>
              <a:t>Text in quotes</a:t>
            </a:r>
            <a:endParaRPr lang="en-US" sz="1200" dirty="0"/>
          </a:p>
        </p:txBody>
      </p:sp>
      <p:sp>
        <p:nvSpPr>
          <p:cNvPr id="17" name="Text 15"/>
          <p:cNvSpPr/>
          <p:nvPr/>
        </p:nvSpPr>
        <p:spPr>
          <a:xfrm>
            <a:off x="621792" y="3840480"/>
            <a:ext cx="3566160" cy="292608"/>
          </a:xfrm>
          <a:prstGeom prst="rect">
            <a:avLst/>
          </a:prstGeom>
          <a:noFill/>
          <a:ln/>
        </p:spPr>
        <p:txBody>
          <a:bodyPr wrap="square" lIns="0" tIns="0" rIns="0" bIns="0" rtlCol="0" anchor="ctr"/>
          <a:lstStyle/>
          <a:p>
            <a:pPr indent="0" marL="0">
              <a:buNone/>
            </a:pPr>
            <a:r>
              <a:rPr lang="en-US" sz="1200" b="1" dirty="0">
                <a:solidFill>
                  <a:srgbClr val="0D1B2A"/>
                </a:solidFill>
                <a:latin typeface="Courier New" pitchFamily="34" charset="0"/>
                <a:ea typeface="Courier New" pitchFamily="34" charset="-122"/>
                <a:cs typeface="Courier New" pitchFamily="34" charset="-120"/>
              </a:rPr>
              <a:t>"hello"</a:t>
            </a:r>
            <a:endParaRPr lang="en-US" sz="1200" dirty="0"/>
          </a:p>
        </p:txBody>
      </p:sp>
      <p:sp>
        <p:nvSpPr>
          <p:cNvPr id="18" name="Shape 16"/>
          <p:cNvSpPr/>
          <p:nvPr/>
        </p:nvSpPr>
        <p:spPr>
          <a:xfrm>
            <a:off x="4754880" y="3246120"/>
            <a:ext cx="3931920" cy="1051560"/>
          </a:xfrm>
          <a:prstGeom prst="roundRect">
            <a:avLst>
              <a:gd name="adj" fmla="val 8696"/>
            </a:avLst>
          </a:prstGeom>
          <a:solidFill>
            <a:srgbClr val="FFFFFF"/>
          </a:solidFill>
          <a:ln w="12700">
            <a:solidFill>
              <a:srgbClr val="0A9396"/>
            </a:solidFill>
            <a:prstDash val="solid"/>
          </a:ln>
          <a:effectLst>
            <a:outerShdw sx="100000" sy="100000" kx="0" ky="0" algn="bl" rotWithShape="0" blurRad="63500" dist="25400" dir="2700000">
              <a:srgbClr val="000000">
                <a:alpha val="10000"/>
              </a:srgbClr>
            </a:outerShdw>
          </a:effectLst>
        </p:spPr>
      </p:sp>
      <p:sp>
        <p:nvSpPr>
          <p:cNvPr id="19" name="Text 17"/>
          <p:cNvSpPr/>
          <p:nvPr/>
        </p:nvSpPr>
        <p:spPr>
          <a:xfrm>
            <a:off x="4919472" y="3337560"/>
            <a:ext cx="3566160" cy="292608"/>
          </a:xfrm>
          <a:prstGeom prst="rect">
            <a:avLst/>
          </a:prstGeom>
          <a:noFill/>
          <a:ln/>
        </p:spPr>
        <p:txBody>
          <a:bodyPr wrap="square" lIns="0" tIns="0" rIns="0" bIns="0" rtlCol="0" anchor="ctr"/>
          <a:lstStyle/>
          <a:p>
            <a:pPr indent="0" marL="0">
              <a:buNone/>
            </a:pPr>
            <a:r>
              <a:rPr lang="en-US" sz="1400" b="1" dirty="0">
                <a:solidFill>
                  <a:srgbClr val="0A9396"/>
                </a:solidFill>
                <a:latin typeface="Calibri" pitchFamily="34" charset="0"/>
                <a:ea typeface="Calibri" pitchFamily="34" charset="-122"/>
                <a:cs typeface="Calibri" pitchFamily="34" charset="-120"/>
              </a:rPr>
              <a:t>Boolean</a:t>
            </a:r>
            <a:endParaRPr lang="en-US" sz="1400" dirty="0"/>
          </a:p>
        </p:txBody>
      </p:sp>
      <p:sp>
        <p:nvSpPr>
          <p:cNvPr id="20" name="Text 18"/>
          <p:cNvSpPr/>
          <p:nvPr/>
        </p:nvSpPr>
        <p:spPr>
          <a:xfrm>
            <a:off x="4919472" y="3593592"/>
            <a:ext cx="3566160" cy="256032"/>
          </a:xfrm>
          <a:prstGeom prst="rect">
            <a:avLst/>
          </a:prstGeom>
          <a:noFill/>
          <a:ln/>
        </p:spPr>
        <p:txBody>
          <a:bodyPr wrap="square" lIns="0" tIns="0" rIns="0" bIns="0" rtlCol="0" anchor="ctr"/>
          <a:lstStyle/>
          <a:p>
            <a:pPr indent="0" marL="0">
              <a:buNone/>
            </a:pPr>
            <a:r>
              <a:rPr lang="en-US" sz="1200" dirty="0">
                <a:solidFill>
                  <a:srgbClr val="3D5A6E"/>
                </a:solidFill>
                <a:latin typeface="Calibri" pitchFamily="34" charset="0"/>
                <a:ea typeface="Calibri" pitchFamily="34" charset="-122"/>
                <a:cs typeface="Calibri" pitchFamily="34" charset="-120"/>
              </a:rPr>
              <a:t>Yes or No value</a:t>
            </a:r>
            <a:endParaRPr lang="en-US" sz="1200" dirty="0"/>
          </a:p>
        </p:txBody>
      </p:sp>
      <p:sp>
        <p:nvSpPr>
          <p:cNvPr id="21" name="Text 19"/>
          <p:cNvSpPr/>
          <p:nvPr/>
        </p:nvSpPr>
        <p:spPr>
          <a:xfrm>
            <a:off x="4919472" y="3840480"/>
            <a:ext cx="3566160" cy="292608"/>
          </a:xfrm>
          <a:prstGeom prst="rect">
            <a:avLst/>
          </a:prstGeom>
          <a:noFill/>
          <a:ln/>
        </p:spPr>
        <p:txBody>
          <a:bodyPr wrap="square" lIns="0" tIns="0" rIns="0" bIns="0" rtlCol="0" anchor="ctr"/>
          <a:lstStyle/>
          <a:p>
            <a:pPr indent="0" marL="0">
              <a:buNone/>
            </a:pPr>
            <a:r>
              <a:rPr lang="en-US" sz="1200" b="1" dirty="0">
                <a:solidFill>
                  <a:srgbClr val="0D1B2A"/>
                </a:solidFill>
                <a:latin typeface="Courier New" pitchFamily="34" charset="0"/>
                <a:ea typeface="Courier New" pitchFamily="34" charset="-122"/>
                <a:cs typeface="Courier New" pitchFamily="34" charset="-120"/>
              </a:rPr>
              <a:t>True  or  False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3EE"/>
        </a:solidFill>
      </p:bgPr>
    </p:bg>
    <p:spTree>
      <p:nvGrpSpPr>
        <p:cNvPr id="1" name=""/>
        <p:cNvGrpSpPr/>
        <p:nvPr/>
      </p:nvGrpSpPr>
      <p:grpSpPr>
        <a:xfrm>
          <a:off x="0" y="0"/>
          <a:ext cx="0" cy="0"/>
          <a:chOff x="0" y="0"/>
          <a:chExt cx="0" cy="0"/>
        </a:xfrm>
      </p:grpSpPr>
      <p:sp>
        <p:nvSpPr>
          <p:cNvPr id="2" name="Shape 0"/>
          <p:cNvSpPr/>
          <p:nvPr/>
        </p:nvSpPr>
        <p:spPr>
          <a:xfrm>
            <a:off x="457200" y="228600"/>
            <a:ext cx="1645920" cy="256032"/>
          </a:xfrm>
          <a:prstGeom prst="roundRect">
            <a:avLst>
              <a:gd name="adj" fmla="val 50000"/>
            </a:avLst>
          </a:prstGeom>
          <a:solidFill>
            <a:srgbClr val="0A9396"/>
          </a:solidFill>
          <a:ln w="12700">
            <a:solidFill>
              <a:srgbClr val="0A9396"/>
            </a:solidFill>
            <a:prstDash val="solid"/>
          </a:ln>
        </p:spPr>
      </p:sp>
      <p:sp>
        <p:nvSpPr>
          <p:cNvPr id="3" name="Text 1"/>
          <p:cNvSpPr/>
          <p:nvPr/>
        </p:nvSpPr>
        <p:spPr>
          <a:xfrm>
            <a:off x="457200" y="228600"/>
            <a:ext cx="1645920" cy="256032"/>
          </a:xfrm>
          <a:prstGeom prst="rect">
            <a:avLst/>
          </a:prstGeom>
          <a:noFill/>
          <a:ln/>
        </p:spPr>
        <p:txBody>
          <a:bodyPr wrap="square" lIns="0" tIns="0" rIns="0" bIns="0" rtlCol="0" anchor="ctr"/>
          <a:lstStyle/>
          <a:p>
            <a:pPr algn="ctr" indent="0" marL="0">
              <a:buNone/>
            </a:pPr>
            <a:r>
              <a:rPr lang="en-US" sz="1000" b="1" spc="100" kern="0" dirty="0">
                <a:solidFill>
                  <a:srgbClr val="FFFFFF"/>
                </a:solidFill>
              </a:rPr>
              <a:t>01  VARIABLES</a:t>
            </a:r>
            <a:endParaRPr lang="en-US" sz="1000" dirty="0"/>
          </a:p>
        </p:txBody>
      </p:sp>
      <p:sp>
        <p:nvSpPr>
          <p:cNvPr id="4" name="Text 2"/>
          <p:cNvSpPr/>
          <p:nvPr/>
        </p:nvSpPr>
        <p:spPr>
          <a:xfrm>
            <a:off x="457200" y="594360"/>
            <a:ext cx="8229600" cy="502920"/>
          </a:xfrm>
          <a:prstGeom prst="rect">
            <a:avLst/>
          </a:prstGeom>
          <a:noFill/>
          <a:ln/>
        </p:spPr>
        <p:txBody>
          <a:bodyPr wrap="square" lIns="0" tIns="0" rIns="0" bIns="0" rtlCol="0" anchor="ctr"/>
          <a:lstStyle/>
          <a:p>
            <a:pPr indent="0" marL="0">
              <a:buNone/>
            </a:pPr>
            <a:r>
              <a:rPr lang="en-US" sz="2600" b="1" dirty="0">
                <a:solidFill>
                  <a:srgbClr val="0D1B2A"/>
                </a:solidFill>
                <a:latin typeface="Cambria" pitchFamily="34" charset="0"/>
                <a:ea typeface="Cambria" pitchFamily="34" charset="-122"/>
                <a:cs typeface="Cambria" pitchFamily="34" charset="-120"/>
              </a:rPr>
              <a:t>Seeing it in code</a:t>
            </a:r>
            <a:endParaRPr lang="en-US" sz="2600" dirty="0"/>
          </a:p>
        </p:txBody>
      </p:sp>
      <p:sp>
        <p:nvSpPr>
          <p:cNvPr id="5" name="Shape 3"/>
          <p:cNvSpPr/>
          <p:nvPr/>
        </p:nvSpPr>
        <p:spPr>
          <a:xfrm>
            <a:off x="457200" y="1188720"/>
            <a:ext cx="5303520" cy="2834640"/>
          </a:xfrm>
          <a:prstGeom prst="roundRect">
            <a:avLst>
              <a:gd name="adj" fmla="val 2581"/>
            </a:avLst>
          </a:prstGeom>
          <a:solidFill>
            <a:srgbClr val="1E2D3D"/>
          </a:solidFill>
          <a:ln w="12700">
            <a:solidFill>
              <a:srgbClr val="0A9396"/>
            </a:solidFill>
            <a:prstDash val="solid"/>
          </a:ln>
          <a:effectLst>
            <a:outerShdw sx="100000" sy="100000" kx="0" ky="0" algn="bl" rotWithShape="0" blurRad="101600" dist="38100" dir="2700000">
              <a:srgbClr val="000000">
                <a:alpha val="20000"/>
              </a:srgbClr>
            </a:outerShdw>
          </a:effectLst>
        </p:spPr>
      </p:sp>
      <p:sp>
        <p:nvSpPr>
          <p:cNvPr id="6" name="Shape 4"/>
          <p:cNvSpPr/>
          <p:nvPr/>
        </p:nvSpPr>
        <p:spPr>
          <a:xfrm>
            <a:off x="621792" y="1307592"/>
            <a:ext cx="100584" cy="100584"/>
          </a:xfrm>
          <a:prstGeom prst="ellipse">
            <a:avLst/>
          </a:prstGeom>
          <a:solidFill>
            <a:srgbClr val="FF605C"/>
          </a:solidFill>
          <a:ln w="12700">
            <a:solidFill>
              <a:srgbClr val="FF605C"/>
            </a:solidFill>
            <a:prstDash val="solid"/>
          </a:ln>
        </p:spPr>
      </p:sp>
      <p:sp>
        <p:nvSpPr>
          <p:cNvPr id="7" name="Shape 5"/>
          <p:cNvSpPr/>
          <p:nvPr/>
        </p:nvSpPr>
        <p:spPr>
          <a:xfrm>
            <a:off x="768096" y="1307592"/>
            <a:ext cx="100584" cy="100584"/>
          </a:xfrm>
          <a:prstGeom prst="ellipse">
            <a:avLst/>
          </a:prstGeom>
          <a:solidFill>
            <a:srgbClr val="FFBD44"/>
          </a:solidFill>
          <a:ln w="12700">
            <a:solidFill>
              <a:srgbClr val="FFBD44"/>
            </a:solidFill>
            <a:prstDash val="solid"/>
          </a:ln>
        </p:spPr>
      </p:sp>
      <p:sp>
        <p:nvSpPr>
          <p:cNvPr id="8" name="Shape 6"/>
          <p:cNvSpPr/>
          <p:nvPr/>
        </p:nvSpPr>
        <p:spPr>
          <a:xfrm>
            <a:off x="914400" y="1307592"/>
            <a:ext cx="100584" cy="100584"/>
          </a:xfrm>
          <a:prstGeom prst="ellipse">
            <a:avLst/>
          </a:prstGeom>
          <a:solidFill>
            <a:srgbClr val="00CA4E"/>
          </a:solidFill>
          <a:ln w="12700">
            <a:solidFill>
              <a:srgbClr val="00CA4E"/>
            </a:solidFill>
            <a:prstDash val="solid"/>
          </a:ln>
        </p:spPr>
      </p:sp>
      <p:sp>
        <p:nvSpPr>
          <p:cNvPr id="9" name="Text 7"/>
          <p:cNvSpPr/>
          <p:nvPr/>
        </p:nvSpPr>
        <p:spPr>
          <a:xfrm>
            <a:off x="585216" y="1481328"/>
            <a:ext cx="5047488" cy="2432304"/>
          </a:xfrm>
          <a:prstGeom prst="rect">
            <a:avLst/>
          </a:prstGeom>
          <a:noFill/>
          <a:ln/>
        </p:spPr>
        <p:txBody>
          <a:bodyPr wrap="square" rtlCol="0" anchor="t"/>
          <a:lstStyle/>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number_of_qubits = 3</a:t>
            </a: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circuit_depth    = 5.0</a:t>
            </a: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backend_name     = "Qiskit Simulator"</a:t>
            </a: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is_simulation    = True</a:t>
            </a:r>
            <a:endParaRPr lang="en-US" sz="1250" dirty="0"/>
          </a:p>
          <a:p>
            <a:pPr indent="0" marL="0">
              <a:spcAft>
                <a:spcPts val="100"/>
              </a:spcAft>
              <a:buNone/>
            </a:pP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print(type(number_of_qubits))   # &lt;class 'int'&gt;</a:t>
            </a: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print(type(circuit_depth))      # &lt;class 'float'&gt;</a:t>
            </a: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print(type(backend_name))       # &lt;class 'str'&gt;</a:t>
            </a: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print(type(is_simulation))      # &lt;class 'bool'&gt;</a:t>
            </a:r>
            <a:endParaRPr lang="en-US" sz="1250" dirty="0"/>
          </a:p>
        </p:txBody>
      </p:sp>
      <p:sp>
        <p:nvSpPr>
          <p:cNvPr id="10" name="Shape 8"/>
          <p:cNvSpPr/>
          <p:nvPr/>
        </p:nvSpPr>
        <p:spPr>
          <a:xfrm>
            <a:off x="5989320" y="1188720"/>
            <a:ext cx="2834640" cy="2834640"/>
          </a:xfrm>
          <a:prstGeom prst="roundRect">
            <a:avLst>
              <a:gd name="adj" fmla="val 3226"/>
            </a:avLst>
          </a:prstGeom>
          <a:solidFill>
            <a:srgbClr val="EBF8FA"/>
          </a:solidFill>
          <a:ln w="12700">
            <a:solidFill>
              <a:srgbClr val="94D2BD"/>
            </a:solidFill>
            <a:prstDash val="solid"/>
          </a:ln>
        </p:spPr>
      </p:sp>
      <p:sp>
        <p:nvSpPr>
          <p:cNvPr id="11" name="Text 9"/>
          <p:cNvSpPr/>
          <p:nvPr/>
        </p:nvSpPr>
        <p:spPr>
          <a:xfrm>
            <a:off x="6126480" y="1298448"/>
            <a:ext cx="2560320" cy="274320"/>
          </a:xfrm>
          <a:prstGeom prst="rect">
            <a:avLst/>
          </a:prstGeom>
          <a:noFill/>
          <a:ln/>
        </p:spPr>
        <p:txBody>
          <a:bodyPr wrap="square" lIns="0" tIns="0" rIns="0" bIns="0" rtlCol="0" anchor="ctr"/>
          <a:lstStyle/>
          <a:p>
            <a:pPr indent="0" marL="0">
              <a:buNone/>
            </a:pPr>
            <a:r>
              <a:rPr lang="en-US" sz="1200" b="1" dirty="0">
                <a:solidFill>
                  <a:srgbClr val="0A9396"/>
                </a:solidFill>
                <a:latin typeface="Calibri" pitchFamily="34" charset="0"/>
                <a:ea typeface="Calibri" pitchFamily="34" charset="-122"/>
                <a:cs typeface="Calibri" pitchFamily="34" charset="-120"/>
              </a:rPr>
              <a:t>Key observations</a:t>
            </a:r>
            <a:endParaRPr lang="en-US" sz="1200" dirty="0"/>
          </a:p>
        </p:txBody>
      </p:sp>
      <p:sp>
        <p:nvSpPr>
          <p:cNvPr id="12" name="Text 10"/>
          <p:cNvSpPr/>
          <p:nvPr/>
        </p:nvSpPr>
        <p:spPr>
          <a:xfrm>
            <a:off x="6126480" y="1627632"/>
            <a:ext cx="2606040" cy="2194560"/>
          </a:xfrm>
          <a:prstGeom prst="rect">
            <a:avLst/>
          </a:prstGeom>
          <a:noFill/>
          <a:ln/>
        </p:spPr>
        <p:txBody>
          <a:bodyPr wrap="square" rtlCol="0" anchor="ctr"/>
          <a:lstStyle/>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No type declarations needed</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Use = to assign a value</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type() reveals what Python sees</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Names should be descriptive</a:t>
            </a:r>
            <a:endParaRPr lang="en-US" sz="1200" dirty="0"/>
          </a:p>
          <a:p>
            <a:pPr indent="0" marL="0">
              <a:buNone/>
            </a:pP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9396"/>
          </a:solidFill>
          <a:ln w="12700">
            <a:solidFill>
              <a:srgbClr val="0A9396"/>
            </a:solidFill>
            <a:prstDash val="solid"/>
          </a:ln>
        </p:spPr>
      </p:sp>
      <p:sp>
        <p:nvSpPr>
          <p:cNvPr id="3" name="Shape 1"/>
          <p:cNvSpPr/>
          <p:nvPr/>
        </p:nvSpPr>
        <p:spPr>
          <a:xfrm>
            <a:off x="548640" y="2148840"/>
            <a:ext cx="384048" cy="384048"/>
          </a:xfrm>
          <a:prstGeom prst="ellipse">
            <a:avLst/>
          </a:prstGeom>
          <a:solidFill>
            <a:srgbClr val="94D2BD"/>
          </a:solidFill>
          <a:ln w="12700">
            <a:solidFill>
              <a:srgbClr val="94D2BD"/>
            </a:solidFill>
            <a:prstDash val="solid"/>
          </a:ln>
        </p:spPr>
      </p:sp>
      <p:sp>
        <p:nvSpPr>
          <p:cNvPr id="4" name="Text 2"/>
          <p:cNvSpPr/>
          <p:nvPr/>
        </p:nvSpPr>
        <p:spPr>
          <a:xfrm>
            <a:off x="548640" y="2148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5" name="Text 3"/>
          <p:cNvSpPr/>
          <p:nvPr/>
        </p:nvSpPr>
        <p:spPr>
          <a:xfrm>
            <a:off x="1097280" y="1737360"/>
            <a:ext cx="7315200" cy="1645920"/>
          </a:xfrm>
          <a:prstGeom prst="rect">
            <a:avLst/>
          </a:prstGeom>
          <a:noFill/>
          <a:ln/>
        </p:spPr>
        <p:txBody>
          <a:bodyPr wrap="square" lIns="0" tIns="0" rIns="0" bIns="0" rtlCol="0" anchor="ctr"/>
          <a:lstStyle/>
          <a:p>
            <a:pPr algn="l" indent="0" marL="0">
              <a:buNone/>
            </a:pPr>
            <a:r>
              <a:rPr lang="en-US" sz="3600" b="1" dirty="0">
                <a:solidFill>
                  <a:srgbClr val="FFFFFF"/>
                </a:solidFill>
                <a:latin typeface="Cambria" pitchFamily="34" charset="0"/>
                <a:ea typeface="Cambria" pitchFamily="34" charset="-122"/>
                <a:cs typeface="Cambria" pitchFamily="34" charset="-120"/>
              </a:rPr>
              <a:t>Lists</a:t>
            </a:r>
            <a:endParaRPr lang="en-US" sz="3600" dirty="0"/>
          </a:p>
        </p:txBody>
      </p:sp>
      <p:sp>
        <p:nvSpPr>
          <p:cNvPr id="6" name="Text 4"/>
          <p:cNvSpPr/>
          <p:nvPr/>
        </p:nvSpPr>
        <p:spPr>
          <a:xfrm>
            <a:off x="1097280" y="3246120"/>
            <a:ext cx="7315200" cy="365760"/>
          </a:xfrm>
          <a:prstGeom prst="rect">
            <a:avLst/>
          </a:prstGeom>
          <a:noFill/>
          <a:ln/>
        </p:spPr>
        <p:txBody>
          <a:bodyPr wrap="square" lIns="0" tIns="0" rIns="0" bIns="0" rtlCol="0" anchor="ctr"/>
          <a:lstStyle/>
          <a:p>
            <a:pPr indent="0" marL="0">
              <a:buNone/>
            </a:pPr>
            <a:r>
              <a:rPr lang="en-US" sz="1600" dirty="0">
                <a:solidFill>
                  <a:srgbClr val="94D2BD"/>
                </a:solidFill>
                <a:latin typeface="Calibri" pitchFamily="34" charset="0"/>
                <a:ea typeface="Calibri" pitchFamily="34" charset="-122"/>
                <a:cs typeface="Calibri" pitchFamily="34" charset="-120"/>
              </a:rPr>
              <a:t>Storing many values under one name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3EE"/>
        </a:solidFill>
      </p:bgPr>
    </p:bg>
    <p:spTree>
      <p:nvGrpSpPr>
        <p:cNvPr id="1" name=""/>
        <p:cNvGrpSpPr/>
        <p:nvPr/>
      </p:nvGrpSpPr>
      <p:grpSpPr>
        <a:xfrm>
          <a:off x="0" y="0"/>
          <a:ext cx="0" cy="0"/>
          <a:chOff x="0" y="0"/>
          <a:chExt cx="0" cy="0"/>
        </a:xfrm>
      </p:grpSpPr>
      <p:sp>
        <p:nvSpPr>
          <p:cNvPr id="2" name="Shape 0"/>
          <p:cNvSpPr/>
          <p:nvPr/>
        </p:nvSpPr>
        <p:spPr>
          <a:xfrm>
            <a:off x="457200" y="228600"/>
            <a:ext cx="1645920" cy="256032"/>
          </a:xfrm>
          <a:prstGeom prst="roundRect">
            <a:avLst>
              <a:gd name="adj" fmla="val 50000"/>
            </a:avLst>
          </a:prstGeom>
          <a:solidFill>
            <a:srgbClr val="0A9396"/>
          </a:solidFill>
          <a:ln w="12700">
            <a:solidFill>
              <a:srgbClr val="0A9396"/>
            </a:solidFill>
            <a:prstDash val="solid"/>
          </a:ln>
        </p:spPr>
      </p:sp>
      <p:sp>
        <p:nvSpPr>
          <p:cNvPr id="3" name="Text 1"/>
          <p:cNvSpPr/>
          <p:nvPr/>
        </p:nvSpPr>
        <p:spPr>
          <a:xfrm>
            <a:off x="457200" y="228600"/>
            <a:ext cx="1645920" cy="256032"/>
          </a:xfrm>
          <a:prstGeom prst="rect">
            <a:avLst/>
          </a:prstGeom>
          <a:noFill/>
          <a:ln/>
        </p:spPr>
        <p:txBody>
          <a:bodyPr wrap="square" lIns="0" tIns="0" rIns="0" bIns="0" rtlCol="0" anchor="ctr"/>
          <a:lstStyle/>
          <a:p>
            <a:pPr algn="ctr" indent="0" marL="0">
              <a:buNone/>
            </a:pPr>
            <a:r>
              <a:rPr lang="en-US" sz="1000" b="1" spc="100" kern="0" dirty="0">
                <a:solidFill>
                  <a:srgbClr val="FFFFFF"/>
                </a:solidFill>
              </a:rPr>
              <a:t>02  LISTS</a:t>
            </a:r>
            <a:endParaRPr lang="en-US" sz="1000" dirty="0"/>
          </a:p>
        </p:txBody>
      </p:sp>
      <p:sp>
        <p:nvSpPr>
          <p:cNvPr id="4" name="Text 2"/>
          <p:cNvSpPr/>
          <p:nvPr/>
        </p:nvSpPr>
        <p:spPr>
          <a:xfrm>
            <a:off x="457200" y="594360"/>
            <a:ext cx="8229600" cy="502920"/>
          </a:xfrm>
          <a:prstGeom prst="rect">
            <a:avLst/>
          </a:prstGeom>
          <a:noFill/>
          <a:ln/>
        </p:spPr>
        <p:txBody>
          <a:bodyPr wrap="square" lIns="0" tIns="0" rIns="0" bIns="0" rtlCol="0" anchor="ctr"/>
          <a:lstStyle/>
          <a:p>
            <a:pPr indent="0" marL="0">
              <a:buNone/>
            </a:pPr>
            <a:r>
              <a:rPr lang="en-US" sz="2600" b="1" dirty="0">
                <a:solidFill>
                  <a:srgbClr val="0D1B2A"/>
                </a:solidFill>
                <a:latin typeface="Cambria" pitchFamily="34" charset="0"/>
                <a:ea typeface="Cambria" pitchFamily="34" charset="-122"/>
                <a:cs typeface="Cambria" pitchFamily="34" charset="-120"/>
              </a:rPr>
              <a:t>A box that holds many items in order</a:t>
            </a:r>
            <a:endParaRPr lang="en-US" sz="2600" dirty="0"/>
          </a:p>
        </p:txBody>
      </p:sp>
      <p:sp>
        <p:nvSpPr>
          <p:cNvPr id="5" name="Shape 3"/>
          <p:cNvSpPr/>
          <p:nvPr/>
        </p:nvSpPr>
        <p:spPr>
          <a:xfrm>
            <a:off x="457200" y="1188720"/>
            <a:ext cx="1051560" cy="594360"/>
          </a:xfrm>
          <a:prstGeom prst="rect">
            <a:avLst/>
          </a:prstGeom>
          <a:solidFill>
            <a:srgbClr val="0A9396"/>
          </a:solidFill>
          <a:ln w="12700">
            <a:solidFill>
              <a:srgbClr val="0A9396"/>
            </a:solidFill>
            <a:prstDash val="solid"/>
          </a:ln>
        </p:spPr>
      </p:sp>
      <p:sp>
        <p:nvSpPr>
          <p:cNvPr id="6" name="Text 4"/>
          <p:cNvSpPr/>
          <p:nvPr/>
        </p:nvSpPr>
        <p:spPr>
          <a:xfrm>
            <a:off x="457200" y="1188720"/>
            <a:ext cx="1051560" cy="594360"/>
          </a:xfrm>
          <a:prstGeom prst="rect">
            <a:avLst/>
          </a:prstGeom>
          <a:noFill/>
          <a:ln/>
        </p:spPr>
        <p:txBody>
          <a:bodyPr wrap="square" lIns="0" tIns="0" rIns="0" bIns="0" rtlCol="0" anchor="ctr"/>
          <a:lstStyle/>
          <a:p>
            <a:pPr algn="ctr" indent="0" marL="0">
              <a:buNone/>
            </a:pPr>
            <a:r>
              <a:rPr lang="en-US" sz="1600" b="1" dirty="0">
                <a:solidFill>
                  <a:srgbClr val="FFFFFF"/>
                </a:solidFill>
              </a:rPr>
              <a:t>q0</a:t>
            </a:r>
            <a:endParaRPr lang="en-US" sz="1600" dirty="0"/>
          </a:p>
        </p:txBody>
      </p:sp>
      <p:sp>
        <p:nvSpPr>
          <p:cNvPr id="7" name="Text 5"/>
          <p:cNvSpPr/>
          <p:nvPr/>
        </p:nvSpPr>
        <p:spPr>
          <a:xfrm>
            <a:off x="457200" y="1810512"/>
            <a:ext cx="1051560" cy="256032"/>
          </a:xfrm>
          <a:prstGeom prst="rect">
            <a:avLst/>
          </a:prstGeom>
          <a:noFill/>
          <a:ln/>
        </p:spPr>
        <p:txBody>
          <a:bodyPr wrap="square" lIns="0" tIns="0" rIns="0" bIns="0" rtlCol="0" anchor="ctr"/>
          <a:lstStyle/>
          <a:p>
            <a:pPr algn="ctr" indent="0" marL="0">
              <a:buNone/>
            </a:pPr>
            <a:r>
              <a:rPr lang="en-US" sz="1000" dirty="0">
                <a:solidFill>
                  <a:srgbClr val="3D5A6E"/>
                </a:solidFill>
              </a:rPr>
              <a:t>index 0</a:t>
            </a:r>
            <a:endParaRPr lang="en-US" sz="1000" dirty="0"/>
          </a:p>
        </p:txBody>
      </p:sp>
      <p:sp>
        <p:nvSpPr>
          <p:cNvPr id="8" name="Shape 6"/>
          <p:cNvSpPr/>
          <p:nvPr/>
        </p:nvSpPr>
        <p:spPr>
          <a:xfrm>
            <a:off x="1645920" y="1188720"/>
            <a:ext cx="1051560" cy="594360"/>
          </a:xfrm>
          <a:prstGeom prst="rect">
            <a:avLst/>
          </a:prstGeom>
          <a:solidFill>
            <a:srgbClr val="0A9396"/>
          </a:solidFill>
          <a:ln w="12700">
            <a:solidFill>
              <a:srgbClr val="0A9396"/>
            </a:solidFill>
            <a:prstDash val="solid"/>
          </a:ln>
        </p:spPr>
      </p:sp>
      <p:sp>
        <p:nvSpPr>
          <p:cNvPr id="9" name="Text 7"/>
          <p:cNvSpPr/>
          <p:nvPr/>
        </p:nvSpPr>
        <p:spPr>
          <a:xfrm>
            <a:off x="1645920" y="1188720"/>
            <a:ext cx="1051560" cy="594360"/>
          </a:xfrm>
          <a:prstGeom prst="rect">
            <a:avLst/>
          </a:prstGeom>
          <a:noFill/>
          <a:ln/>
        </p:spPr>
        <p:txBody>
          <a:bodyPr wrap="square" lIns="0" tIns="0" rIns="0" bIns="0" rtlCol="0" anchor="ctr"/>
          <a:lstStyle/>
          <a:p>
            <a:pPr algn="ctr" indent="0" marL="0">
              <a:buNone/>
            </a:pPr>
            <a:r>
              <a:rPr lang="en-US" sz="1600" b="1" dirty="0">
                <a:solidFill>
                  <a:srgbClr val="FFFFFF"/>
                </a:solidFill>
              </a:rPr>
              <a:t>q1</a:t>
            </a:r>
            <a:endParaRPr lang="en-US" sz="1600" dirty="0"/>
          </a:p>
        </p:txBody>
      </p:sp>
      <p:sp>
        <p:nvSpPr>
          <p:cNvPr id="10" name="Text 8"/>
          <p:cNvSpPr/>
          <p:nvPr/>
        </p:nvSpPr>
        <p:spPr>
          <a:xfrm>
            <a:off x="1645920" y="1810512"/>
            <a:ext cx="1051560" cy="256032"/>
          </a:xfrm>
          <a:prstGeom prst="rect">
            <a:avLst/>
          </a:prstGeom>
          <a:noFill/>
          <a:ln/>
        </p:spPr>
        <p:txBody>
          <a:bodyPr wrap="square" lIns="0" tIns="0" rIns="0" bIns="0" rtlCol="0" anchor="ctr"/>
          <a:lstStyle/>
          <a:p>
            <a:pPr algn="ctr" indent="0" marL="0">
              <a:buNone/>
            </a:pPr>
            <a:r>
              <a:rPr lang="en-US" sz="1000" dirty="0">
                <a:solidFill>
                  <a:srgbClr val="3D5A6E"/>
                </a:solidFill>
              </a:rPr>
              <a:t>index 1</a:t>
            </a:r>
            <a:endParaRPr lang="en-US" sz="1000" dirty="0"/>
          </a:p>
        </p:txBody>
      </p:sp>
      <p:sp>
        <p:nvSpPr>
          <p:cNvPr id="11" name="Shape 9"/>
          <p:cNvSpPr/>
          <p:nvPr/>
        </p:nvSpPr>
        <p:spPr>
          <a:xfrm>
            <a:off x="2834640" y="1188720"/>
            <a:ext cx="1051560" cy="594360"/>
          </a:xfrm>
          <a:prstGeom prst="rect">
            <a:avLst/>
          </a:prstGeom>
          <a:solidFill>
            <a:srgbClr val="0A9396"/>
          </a:solidFill>
          <a:ln w="12700">
            <a:solidFill>
              <a:srgbClr val="0A9396"/>
            </a:solidFill>
            <a:prstDash val="solid"/>
          </a:ln>
        </p:spPr>
      </p:sp>
      <p:sp>
        <p:nvSpPr>
          <p:cNvPr id="12" name="Text 10"/>
          <p:cNvSpPr/>
          <p:nvPr/>
        </p:nvSpPr>
        <p:spPr>
          <a:xfrm>
            <a:off x="2834640" y="1188720"/>
            <a:ext cx="1051560" cy="594360"/>
          </a:xfrm>
          <a:prstGeom prst="rect">
            <a:avLst/>
          </a:prstGeom>
          <a:noFill/>
          <a:ln/>
        </p:spPr>
        <p:txBody>
          <a:bodyPr wrap="square" lIns="0" tIns="0" rIns="0" bIns="0" rtlCol="0" anchor="ctr"/>
          <a:lstStyle/>
          <a:p>
            <a:pPr algn="ctr" indent="0" marL="0">
              <a:buNone/>
            </a:pPr>
            <a:r>
              <a:rPr lang="en-US" sz="1600" b="1" dirty="0">
                <a:solidFill>
                  <a:srgbClr val="FFFFFF"/>
                </a:solidFill>
              </a:rPr>
              <a:t>q2</a:t>
            </a:r>
            <a:endParaRPr lang="en-US" sz="1600" dirty="0"/>
          </a:p>
        </p:txBody>
      </p:sp>
      <p:sp>
        <p:nvSpPr>
          <p:cNvPr id="13" name="Text 11"/>
          <p:cNvSpPr/>
          <p:nvPr/>
        </p:nvSpPr>
        <p:spPr>
          <a:xfrm>
            <a:off x="2834640" y="1810512"/>
            <a:ext cx="1051560" cy="256032"/>
          </a:xfrm>
          <a:prstGeom prst="rect">
            <a:avLst/>
          </a:prstGeom>
          <a:noFill/>
          <a:ln/>
        </p:spPr>
        <p:txBody>
          <a:bodyPr wrap="square" lIns="0" tIns="0" rIns="0" bIns="0" rtlCol="0" anchor="ctr"/>
          <a:lstStyle/>
          <a:p>
            <a:pPr algn="ctr" indent="0" marL="0">
              <a:buNone/>
            </a:pPr>
            <a:r>
              <a:rPr lang="en-US" sz="1000" dirty="0">
                <a:solidFill>
                  <a:srgbClr val="3D5A6E"/>
                </a:solidFill>
              </a:rPr>
              <a:t>index 2</a:t>
            </a:r>
            <a:endParaRPr lang="en-US" sz="1000" dirty="0"/>
          </a:p>
        </p:txBody>
      </p:sp>
      <p:sp>
        <p:nvSpPr>
          <p:cNvPr id="14" name="Shape 12"/>
          <p:cNvSpPr/>
          <p:nvPr/>
        </p:nvSpPr>
        <p:spPr>
          <a:xfrm>
            <a:off x="4023360" y="1188720"/>
            <a:ext cx="1051560" cy="594360"/>
          </a:xfrm>
          <a:prstGeom prst="rect">
            <a:avLst/>
          </a:prstGeom>
          <a:solidFill>
            <a:srgbClr val="0A9396"/>
          </a:solidFill>
          <a:ln w="12700">
            <a:solidFill>
              <a:srgbClr val="0A9396"/>
            </a:solidFill>
            <a:prstDash val="solid"/>
          </a:ln>
        </p:spPr>
      </p:sp>
      <p:sp>
        <p:nvSpPr>
          <p:cNvPr id="15" name="Text 13"/>
          <p:cNvSpPr/>
          <p:nvPr/>
        </p:nvSpPr>
        <p:spPr>
          <a:xfrm>
            <a:off x="4023360" y="1188720"/>
            <a:ext cx="1051560" cy="594360"/>
          </a:xfrm>
          <a:prstGeom prst="rect">
            <a:avLst/>
          </a:prstGeom>
          <a:noFill/>
          <a:ln/>
        </p:spPr>
        <p:txBody>
          <a:bodyPr wrap="square" lIns="0" tIns="0" rIns="0" bIns="0" rtlCol="0" anchor="ctr"/>
          <a:lstStyle/>
          <a:p>
            <a:pPr algn="ctr" indent="0" marL="0">
              <a:buNone/>
            </a:pPr>
            <a:r>
              <a:rPr lang="en-US" sz="1600" b="1" dirty="0">
                <a:solidFill>
                  <a:srgbClr val="FFFFFF"/>
                </a:solidFill>
              </a:rPr>
              <a:t>q3</a:t>
            </a:r>
            <a:endParaRPr lang="en-US" sz="1600" dirty="0"/>
          </a:p>
        </p:txBody>
      </p:sp>
      <p:sp>
        <p:nvSpPr>
          <p:cNvPr id="16" name="Text 14"/>
          <p:cNvSpPr/>
          <p:nvPr/>
        </p:nvSpPr>
        <p:spPr>
          <a:xfrm>
            <a:off x="4023360" y="1810512"/>
            <a:ext cx="1051560" cy="256032"/>
          </a:xfrm>
          <a:prstGeom prst="rect">
            <a:avLst/>
          </a:prstGeom>
          <a:noFill/>
          <a:ln/>
        </p:spPr>
        <p:txBody>
          <a:bodyPr wrap="square" lIns="0" tIns="0" rIns="0" bIns="0" rtlCol="0" anchor="ctr"/>
          <a:lstStyle/>
          <a:p>
            <a:pPr algn="ctr" indent="0" marL="0">
              <a:buNone/>
            </a:pPr>
            <a:r>
              <a:rPr lang="en-US" sz="1000" dirty="0">
                <a:solidFill>
                  <a:srgbClr val="3D5A6E"/>
                </a:solidFill>
              </a:rPr>
              <a:t>index 3</a:t>
            </a:r>
            <a:endParaRPr lang="en-US" sz="1000" dirty="0"/>
          </a:p>
        </p:txBody>
      </p:sp>
      <p:sp>
        <p:nvSpPr>
          <p:cNvPr id="17" name="Text 15"/>
          <p:cNvSpPr/>
          <p:nvPr/>
        </p:nvSpPr>
        <p:spPr>
          <a:xfrm>
            <a:off x="457200" y="2121408"/>
            <a:ext cx="5029200" cy="274320"/>
          </a:xfrm>
          <a:prstGeom prst="rect">
            <a:avLst/>
          </a:prstGeom>
          <a:noFill/>
          <a:ln/>
        </p:spPr>
        <p:txBody>
          <a:bodyPr wrap="square" lIns="0" tIns="0" rIns="0" bIns="0" rtlCol="0" anchor="ctr"/>
          <a:lstStyle/>
          <a:p>
            <a:pPr indent="0" marL="0">
              <a:buNone/>
            </a:pPr>
            <a:r>
              <a:rPr lang="en-US" sz="1200" b="1" dirty="0">
                <a:solidFill>
                  <a:srgbClr val="0A9396"/>
                </a:solidFill>
                <a:latin typeface="Calibri" pitchFamily="34" charset="0"/>
                <a:ea typeface="Calibri" pitchFamily="34" charset="-122"/>
                <a:cs typeface="Calibri" pitchFamily="34" charset="-120"/>
              </a:rPr>
              <a:t>Index starts at 0, not 1</a:t>
            </a:r>
            <a:endParaRPr lang="en-US" sz="1200" dirty="0"/>
          </a:p>
        </p:txBody>
      </p:sp>
      <p:sp>
        <p:nvSpPr>
          <p:cNvPr id="18" name="Shape 16"/>
          <p:cNvSpPr/>
          <p:nvPr/>
        </p:nvSpPr>
        <p:spPr>
          <a:xfrm>
            <a:off x="457200" y="2468880"/>
            <a:ext cx="8321040" cy="2395728"/>
          </a:xfrm>
          <a:prstGeom prst="roundRect">
            <a:avLst>
              <a:gd name="adj" fmla="val 3053"/>
            </a:avLst>
          </a:prstGeom>
          <a:solidFill>
            <a:srgbClr val="1E2D3D"/>
          </a:solidFill>
          <a:ln w="12700">
            <a:solidFill>
              <a:srgbClr val="0A9396"/>
            </a:solidFill>
            <a:prstDash val="solid"/>
          </a:ln>
          <a:effectLst>
            <a:outerShdw sx="100000" sy="100000" kx="0" ky="0" algn="bl" rotWithShape="0" blurRad="101600" dist="38100" dir="2700000">
              <a:srgbClr val="000000">
                <a:alpha val="20000"/>
              </a:srgbClr>
            </a:outerShdw>
          </a:effectLst>
        </p:spPr>
      </p:sp>
      <p:sp>
        <p:nvSpPr>
          <p:cNvPr id="19" name="Shape 17"/>
          <p:cNvSpPr/>
          <p:nvPr/>
        </p:nvSpPr>
        <p:spPr>
          <a:xfrm>
            <a:off x="621792" y="2587752"/>
            <a:ext cx="100584" cy="100584"/>
          </a:xfrm>
          <a:prstGeom prst="ellipse">
            <a:avLst/>
          </a:prstGeom>
          <a:solidFill>
            <a:srgbClr val="FF605C"/>
          </a:solidFill>
          <a:ln w="12700">
            <a:solidFill>
              <a:srgbClr val="FF605C"/>
            </a:solidFill>
            <a:prstDash val="solid"/>
          </a:ln>
        </p:spPr>
      </p:sp>
      <p:sp>
        <p:nvSpPr>
          <p:cNvPr id="20" name="Shape 18"/>
          <p:cNvSpPr/>
          <p:nvPr/>
        </p:nvSpPr>
        <p:spPr>
          <a:xfrm>
            <a:off x="768096" y="2587752"/>
            <a:ext cx="100584" cy="100584"/>
          </a:xfrm>
          <a:prstGeom prst="ellipse">
            <a:avLst/>
          </a:prstGeom>
          <a:solidFill>
            <a:srgbClr val="FFBD44"/>
          </a:solidFill>
          <a:ln w="12700">
            <a:solidFill>
              <a:srgbClr val="FFBD44"/>
            </a:solidFill>
            <a:prstDash val="solid"/>
          </a:ln>
        </p:spPr>
      </p:sp>
      <p:sp>
        <p:nvSpPr>
          <p:cNvPr id="21" name="Shape 19"/>
          <p:cNvSpPr/>
          <p:nvPr/>
        </p:nvSpPr>
        <p:spPr>
          <a:xfrm>
            <a:off x="914400" y="2587752"/>
            <a:ext cx="100584" cy="100584"/>
          </a:xfrm>
          <a:prstGeom prst="ellipse">
            <a:avLst/>
          </a:prstGeom>
          <a:solidFill>
            <a:srgbClr val="00CA4E"/>
          </a:solidFill>
          <a:ln w="12700">
            <a:solidFill>
              <a:srgbClr val="00CA4E"/>
            </a:solidFill>
            <a:prstDash val="solid"/>
          </a:ln>
        </p:spPr>
      </p:sp>
      <p:sp>
        <p:nvSpPr>
          <p:cNvPr id="22" name="Text 20"/>
          <p:cNvSpPr/>
          <p:nvPr/>
        </p:nvSpPr>
        <p:spPr>
          <a:xfrm>
            <a:off x="585216" y="2761488"/>
            <a:ext cx="8065008" cy="1993392"/>
          </a:xfrm>
          <a:prstGeom prst="rect">
            <a:avLst/>
          </a:prstGeom>
          <a:noFill/>
          <a:ln/>
        </p:spPr>
        <p:txBody>
          <a:bodyPr wrap="square" rtlCol="0" anchor="t"/>
          <a:lstStyle/>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qubit_labels = ["q0", "q1", "q2", "q3"]</a:t>
            </a:r>
            <a:endParaRPr lang="en-US" sz="1250" dirty="0"/>
          </a:p>
          <a:p>
            <a:pPr indent="0" marL="0">
              <a:spcAft>
                <a:spcPts val="100"/>
              </a:spcAft>
              <a:buNone/>
            </a:pP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print(qubit_labels[0])          # q0</a:t>
            </a: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print(qubit_labels[2])          # q2</a:t>
            </a: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print(len(qubit_labels))        # 4</a:t>
            </a:r>
            <a:endParaRPr lang="en-US" sz="1250" dirty="0"/>
          </a:p>
          <a:p>
            <a:pPr indent="0" marL="0">
              <a:spcAft>
                <a:spcPts val="100"/>
              </a:spcAft>
              <a:buNone/>
            </a:pP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qubit_labels.append("q4")</a:t>
            </a: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print(qubit_labels)             # ['q0','q1','q2','q3','q4']</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9396"/>
          </a:solidFill>
          <a:ln w="12700">
            <a:solidFill>
              <a:srgbClr val="0A9396"/>
            </a:solidFill>
            <a:prstDash val="solid"/>
          </a:ln>
        </p:spPr>
      </p:sp>
      <p:sp>
        <p:nvSpPr>
          <p:cNvPr id="3" name="Shape 1"/>
          <p:cNvSpPr/>
          <p:nvPr/>
        </p:nvSpPr>
        <p:spPr>
          <a:xfrm>
            <a:off x="548640" y="2148840"/>
            <a:ext cx="384048" cy="384048"/>
          </a:xfrm>
          <a:prstGeom prst="ellipse">
            <a:avLst/>
          </a:prstGeom>
          <a:solidFill>
            <a:srgbClr val="94D2BD"/>
          </a:solidFill>
          <a:ln w="12700">
            <a:solidFill>
              <a:srgbClr val="94D2BD"/>
            </a:solidFill>
            <a:prstDash val="solid"/>
          </a:ln>
        </p:spPr>
      </p:sp>
      <p:sp>
        <p:nvSpPr>
          <p:cNvPr id="4" name="Text 2"/>
          <p:cNvSpPr/>
          <p:nvPr/>
        </p:nvSpPr>
        <p:spPr>
          <a:xfrm>
            <a:off x="548640" y="2148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5" name="Text 3"/>
          <p:cNvSpPr/>
          <p:nvPr/>
        </p:nvSpPr>
        <p:spPr>
          <a:xfrm>
            <a:off x="1097280" y="1737360"/>
            <a:ext cx="7315200" cy="1645920"/>
          </a:xfrm>
          <a:prstGeom prst="rect">
            <a:avLst/>
          </a:prstGeom>
          <a:noFill/>
          <a:ln/>
        </p:spPr>
        <p:txBody>
          <a:bodyPr wrap="square" lIns="0" tIns="0" rIns="0" bIns="0" rtlCol="0" anchor="ctr"/>
          <a:lstStyle/>
          <a:p>
            <a:pPr algn="l" indent="0" marL="0">
              <a:buNone/>
            </a:pPr>
            <a:r>
              <a:rPr lang="en-US" sz="3600" b="1" dirty="0">
                <a:solidFill>
                  <a:srgbClr val="FFFFFF"/>
                </a:solidFill>
                <a:latin typeface="Cambria" pitchFamily="34" charset="0"/>
                <a:ea typeface="Cambria" pitchFamily="34" charset="-122"/>
                <a:cs typeface="Cambria" pitchFamily="34" charset="-120"/>
              </a:rPr>
              <a:t>Conditionals</a:t>
            </a:r>
            <a:endParaRPr lang="en-US" sz="3600" dirty="0"/>
          </a:p>
        </p:txBody>
      </p:sp>
      <p:sp>
        <p:nvSpPr>
          <p:cNvPr id="6" name="Text 4"/>
          <p:cNvSpPr/>
          <p:nvPr/>
        </p:nvSpPr>
        <p:spPr>
          <a:xfrm>
            <a:off x="1097280" y="3246120"/>
            <a:ext cx="7315200" cy="365760"/>
          </a:xfrm>
          <a:prstGeom prst="rect">
            <a:avLst/>
          </a:prstGeom>
          <a:noFill/>
          <a:ln/>
        </p:spPr>
        <p:txBody>
          <a:bodyPr wrap="square" lIns="0" tIns="0" rIns="0" bIns="0" rtlCol="0" anchor="ctr"/>
          <a:lstStyle/>
          <a:p>
            <a:pPr indent="0" marL="0">
              <a:buNone/>
            </a:pPr>
            <a:r>
              <a:rPr lang="en-US" sz="1600" dirty="0">
                <a:solidFill>
                  <a:srgbClr val="94D2BD"/>
                </a:solidFill>
                <a:latin typeface="Calibri" pitchFamily="34" charset="0"/>
                <a:ea typeface="Calibri" pitchFamily="34" charset="-122"/>
                <a:cs typeface="Calibri" pitchFamily="34" charset="-120"/>
              </a:rPr>
              <a:t>How code makes decisions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3EE"/>
        </a:solidFill>
      </p:bgPr>
    </p:bg>
    <p:spTree>
      <p:nvGrpSpPr>
        <p:cNvPr id="1" name=""/>
        <p:cNvGrpSpPr/>
        <p:nvPr/>
      </p:nvGrpSpPr>
      <p:grpSpPr>
        <a:xfrm>
          <a:off x="0" y="0"/>
          <a:ext cx="0" cy="0"/>
          <a:chOff x="0" y="0"/>
          <a:chExt cx="0" cy="0"/>
        </a:xfrm>
      </p:grpSpPr>
      <p:sp>
        <p:nvSpPr>
          <p:cNvPr id="2" name="Shape 0"/>
          <p:cNvSpPr/>
          <p:nvPr/>
        </p:nvSpPr>
        <p:spPr>
          <a:xfrm>
            <a:off x="457200" y="228600"/>
            <a:ext cx="1645920" cy="256032"/>
          </a:xfrm>
          <a:prstGeom prst="roundRect">
            <a:avLst>
              <a:gd name="adj" fmla="val 50000"/>
            </a:avLst>
          </a:prstGeom>
          <a:solidFill>
            <a:srgbClr val="0A9396"/>
          </a:solidFill>
          <a:ln w="12700">
            <a:solidFill>
              <a:srgbClr val="0A9396"/>
            </a:solidFill>
            <a:prstDash val="solid"/>
          </a:ln>
        </p:spPr>
      </p:sp>
      <p:sp>
        <p:nvSpPr>
          <p:cNvPr id="3" name="Text 1"/>
          <p:cNvSpPr/>
          <p:nvPr/>
        </p:nvSpPr>
        <p:spPr>
          <a:xfrm>
            <a:off x="457200" y="228600"/>
            <a:ext cx="1645920" cy="256032"/>
          </a:xfrm>
          <a:prstGeom prst="rect">
            <a:avLst/>
          </a:prstGeom>
          <a:noFill/>
          <a:ln/>
        </p:spPr>
        <p:txBody>
          <a:bodyPr wrap="square" lIns="0" tIns="0" rIns="0" bIns="0" rtlCol="0" anchor="ctr"/>
          <a:lstStyle/>
          <a:p>
            <a:pPr algn="ctr" indent="0" marL="0">
              <a:buNone/>
            </a:pPr>
            <a:r>
              <a:rPr lang="en-US" sz="1000" b="1" spc="100" kern="0" dirty="0">
                <a:solidFill>
                  <a:srgbClr val="FFFFFF"/>
                </a:solidFill>
              </a:rPr>
              <a:t>03  CONDITIONALS</a:t>
            </a:r>
            <a:endParaRPr lang="en-US" sz="1000" dirty="0"/>
          </a:p>
        </p:txBody>
      </p:sp>
      <p:sp>
        <p:nvSpPr>
          <p:cNvPr id="4" name="Text 2"/>
          <p:cNvSpPr/>
          <p:nvPr/>
        </p:nvSpPr>
        <p:spPr>
          <a:xfrm>
            <a:off x="457200" y="594360"/>
            <a:ext cx="8229600" cy="502920"/>
          </a:xfrm>
          <a:prstGeom prst="rect">
            <a:avLst/>
          </a:prstGeom>
          <a:noFill/>
          <a:ln/>
        </p:spPr>
        <p:txBody>
          <a:bodyPr wrap="square" lIns="0" tIns="0" rIns="0" bIns="0" rtlCol="0" anchor="ctr"/>
          <a:lstStyle/>
          <a:p>
            <a:pPr indent="0" marL="0">
              <a:buNone/>
            </a:pPr>
            <a:r>
              <a:rPr lang="en-US" sz="2600" b="1" dirty="0">
                <a:solidFill>
                  <a:srgbClr val="0D1B2A"/>
                </a:solidFill>
                <a:latin typeface="Cambria" pitchFamily="34" charset="0"/>
                <a:ea typeface="Cambria" pitchFamily="34" charset="-122"/>
                <a:cs typeface="Cambria" pitchFamily="34" charset="-120"/>
              </a:rPr>
              <a:t>if / elif / else</a:t>
            </a:r>
            <a:endParaRPr lang="en-US" sz="2600" dirty="0"/>
          </a:p>
        </p:txBody>
      </p:sp>
      <p:sp>
        <p:nvSpPr>
          <p:cNvPr id="5" name="Shape 3"/>
          <p:cNvSpPr/>
          <p:nvPr/>
        </p:nvSpPr>
        <p:spPr>
          <a:xfrm>
            <a:off x="457200" y="1188720"/>
            <a:ext cx="2011680" cy="475488"/>
          </a:xfrm>
          <a:prstGeom prst="roundRect">
            <a:avLst>
              <a:gd name="adj" fmla="val 15385"/>
            </a:avLst>
          </a:prstGeom>
          <a:solidFill>
            <a:srgbClr val="0A9396"/>
          </a:solidFill>
          <a:ln w="12700">
            <a:solidFill>
              <a:srgbClr val="0A9396"/>
            </a:solidFill>
            <a:prstDash val="solid"/>
          </a:ln>
        </p:spPr>
      </p:sp>
      <p:sp>
        <p:nvSpPr>
          <p:cNvPr id="6" name="Text 4"/>
          <p:cNvSpPr/>
          <p:nvPr/>
        </p:nvSpPr>
        <p:spPr>
          <a:xfrm>
            <a:off x="457200" y="1188720"/>
            <a:ext cx="2011680" cy="475488"/>
          </a:xfrm>
          <a:prstGeom prst="rect">
            <a:avLst/>
          </a:prstGeom>
          <a:noFill/>
          <a:ln/>
        </p:spPr>
        <p:txBody>
          <a:bodyPr wrap="square" lIns="0" tIns="0" rIns="0" bIns="0" rtlCol="0" anchor="ctr"/>
          <a:lstStyle/>
          <a:p>
            <a:pPr algn="ctr" indent="0" marL="0">
              <a:buNone/>
            </a:pPr>
            <a:r>
              <a:rPr lang="en-US" sz="1200" b="1" dirty="0">
                <a:solidFill>
                  <a:srgbClr val="FFFFFF"/>
                </a:solidFill>
              </a:rPr>
              <a:t>Check condition</a:t>
            </a:r>
            <a:endParaRPr lang="en-US" sz="1200" dirty="0"/>
          </a:p>
        </p:txBody>
      </p:sp>
      <p:sp>
        <p:nvSpPr>
          <p:cNvPr id="7" name="Shape 5"/>
          <p:cNvSpPr/>
          <p:nvPr/>
        </p:nvSpPr>
        <p:spPr>
          <a:xfrm>
            <a:off x="1463040" y="1664208"/>
            <a:ext cx="0" cy="274320"/>
          </a:xfrm>
          <a:prstGeom prst="line">
            <a:avLst/>
          </a:prstGeom>
          <a:noFill/>
          <a:ln w="19050">
            <a:solidFill>
              <a:srgbClr val="3D5A6E"/>
            </a:solidFill>
            <a:prstDash val="solid"/>
          </a:ln>
        </p:spPr>
      </p:sp>
      <p:sp>
        <p:nvSpPr>
          <p:cNvPr id="8" name="Shape 6"/>
          <p:cNvSpPr/>
          <p:nvPr/>
        </p:nvSpPr>
        <p:spPr>
          <a:xfrm>
            <a:off x="457200" y="1938528"/>
            <a:ext cx="2011680" cy="475488"/>
          </a:xfrm>
          <a:prstGeom prst="roundRect">
            <a:avLst>
              <a:gd name="adj" fmla="val 15385"/>
            </a:avLst>
          </a:prstGeom>
          <a:solidFill>
            <a:srgbClr val="E8FAF5"/>
          </a:solidFill>
          <a:ln w="12700">
            <a:solidFill>
              <a:srgbClr val="0A9396"/>
            </a:solidFill>
            <a:prstDash val="solid"/>
          </a:ln>
        </p:spPr>
      </p:sp>
      <p:sp>
        <p:nvSpPr>
          <p:cNvPr id="9" name="Text 7"/>
          <p:cNvSpPr/>
          <p:nvPr/>
        </p:nvSpPr>
        <p:spPr>
          <a:xfrm>
            <a:off x="457200" y="1938528"/>
            <a:ext cx="2011680" cy="475488"/>
          </a:xfrm>
          <a:prstGeom prst="rect">
            <a:avLst/>
          </a:prstGeom>
          <a:noFill/>
          <a:ln/>
        </p:spPr>
        <p:txBody>
          <a:bodyPr wrap="square" lIns="0" tIns="0" rIns="0" bIns="0" rtlCol="0" anchor="ctr"/>
          <a:lstStyle/>
          <a:p>
            <a:pPr algn="ctr" indent="0" marL="0">
              <a:buNone/>
            </a:pPr>
            <a:r>
              <a:rPr lang="en-US" sz="1200" dirty="0">
                <a:solidFill>
                  <a:srgbClr val="0A9396"/>
                </a:solidFill>
              </a:rPr>
              <a:t>True → run this</a:t>
            </a:r>
            <a:endParaRPr lang="en-US" sz="1200" dirty="0"/>
          </a:p>
        </p:txBody>
      </p:sp>
      <p:sp>
        <p:nvSpPr>
          <p:cNvPr id="10" name="Shape 8"/>
          <p:cNvSpPr/>
          <p:nvPr/>
        </p:nvSpPr>
        <p:spPr>
          <a:xfrm>
            <a:off x="2468880" y="1426464"/>
            <a:ext cx="502920" cy="0"/>
          </a:xfrm>
          <a:prstGeom prst="line">
            <a:avLst/>
          </a:prstGeom>
          <a:noFill/>
          <a:ln w="19050">
            <a:solidFill>
              <a:srgbClr val="3D5A6E"/>
            </a:solidFill>
            <a:prstDash val="solid"/>
          </a:ln>
        </p:spPr>
      </p:sp>
      <p:sp>
        <p:nvSpPr>
          <p:cNvPr id="11" name="Shape 9"/>
          <p:cNvSpPr/>
          <p:nvPr/>
        </p:nvSpPr>
        <p:spPr>
          <a:xfrm>
            <a:off x="2971800" y="1938528"/>
            <a:ext cx="2011680" cy="475488"/>
          </a:xfrm>
          <a:prstGeom prst="roundRect">
            <a:avLst>
              <a:gd name="adj" fmla="val 15385"/>
            </a:avLst>
          </a:prstGeom>
          <a:solidFill>
            <a:srgbClr val="FFF0F0"/>
          </a:solidFill>
          <a:ln w="12700">
            <a:solidFill>
              <a:srgbClr val="D62828"/>
            </a:solidFill>
            <a:prstDash val="solid"/>
          </a:ln>
        </p:spPr>
      </p:sp>
      <p:sp>
        <p:nvSpPr>
          <p:cNvPr id="12" name="Text 10"/>
          <p:cNvSpPr/>
          <p:nvPr/>
        </p:nvSpPr>
        <p:spPr>
          <a:xfrm>
            <a:off x="2971800" y="1938528"/>
            <a:ext cx="2011680" cy="475488"/>
          </a:xfrm>
          <a:prstGeom prst="rect">
            <a:avLst/>
          </a:prstGeom>
          <a:noFill/>
          <a:ln/>
        </p:spPr>
        <p:txBody>
          <a:bodyPr wrap="square" lIns="0" tIns="0" rIns="0" bIns="0" rtlCol="0" anchor="ctr"/>
          <a:lstStyle/>
          <a:p>
            <a:pPr algn="ctr" indent="0" marL="0">
              <a:buNone/>
            </a:pPr>
            <a:r>
              <a:rPr lang="en-US" sz="1200" dirty="0">
                <a:solidFill>
                  <a:srgbClr val="D62828"/>
                </a:solidFill>
              </a:rPr>
              <a:t>False → else block</a:t>
            </a:r>
            <a:endParaRPr lang="en-US" sz="1200" dirty="0"/>
          </a:p>
        </p:txBody>
      </p:sp>
      <p:sp>
        <p:nvSpPr>
          <p:cNvPr id="13" name="Shape 11"/>
          <p:cNvSpPr/>
          <p:nvPr/>
        </p:nvSpPr>
        <p:spPr>
          <a:xfrm>
            <a:off x="3977640" y="1664208"/>
            <a:ext cx="0" cy="274320"/>
          </a:xfrm>
          <a:prstGeom prst="line">
            <a:avLst/>
          </a:prstGeom>
          <a:noFill/>
          <a:ln w="19050">
            <a:solidFill>
              <a:srgbClr val="3D5A6E"/>
            </a:solidFill>
            <a:prstDash val="solid"/>
          </a:ln>
        </p:spPr>
      </p:sp>
      <p:sp>
        <p:nvSpPr>
          <p:cNvPr id="14" name="Text 12"/>
          <p:cNvSpPr/>
          <p:nvPr/>
        </p:nvSpPr>
        <p:spPr>
          <a:xfrm>
            <a:off x="457200" y="2542032"/>
            <a:ext cx="5212080" cy="274320"/>
          </a:xfrm>
          <a:prstGeom prst="rect">
            <a:avLst/>
          </a:prstGeom>
          <a:noFill/>
          <a:ln/>
        </p:spPr>
        <p:txBody>
          <a:bodyPr wrap="square" lIns="0" tIns="0" rIns="0" bIns="0" rtlCol="0" anchor="ctr"/>
          <a:lstStyle/>
          <a:p>
            <a:pPr indent="0" marL="0">
              <a:buNone/>
            </a:pPr>
            <a:r>
              <a:rPr lang="en-US" sz="1100" i="1" dirty="0">
                <a:solidFill>
                  <a:srgbClr val="3D5A6E"/>
                </a:solidFill>
                <a:latin typeface="Calibri" pitchFamily="34" charset="0"/>
                <a:ea typeface="Calibri" pitchFamily="34" charset="-122"/>
                <a:cs typeface="Calibri" pitchFamily="34" charset="-120"/>
              </a:rPr>
              <a:t>Indentation tells Python which lines belong inside the block</a:t>
            </a:r>
            <a:endParaRPr lang="en-US" sz="1100" dirty="0"/>
          </a:p>
        </p:txBody>
      </p:sp>
      <p:sp>
        <p:nvSpPr>
          <p:cNvPr id="15" name="Shape 13"/>
          <p:cNvSpPr/>
          <p:nvPr/>
        </p:nvSpPr>
        <p:spPr>
          <a:xfrm>
            <a:off x="5212080" y="1143000"/>
            <a:ext cx="3611880" cy="3749040"/>
          </a:xfrm>
          <a:prstGeom prst="roundRect">
            <a:avLst>
              <a:gd name="adj" fmla="val 2025"/>
            </a:avLst>
          </a:prstGeom>
          <a:solidFill>
            <a:srgbClr val="1E2D3D"/>
          </a:solidFill>
          <a:ln w="12700">
            <a:solidFill>
              <a:srgbClr val="0A9396"/>
            </a:solidFill>
            <a:prstDash val="solid"/>
          </a:ln>
          <a:effectLst>
            <a:outerShdw sx="100000" sy="100000" kx="0" ky="0" algn="bl" rotWithShape="0" blurRad="101600" dist="38100" dir="2700000">
              <a:srgbClr val="000000">
                <a:alpha val="20000"/>
              </a:srgbClr>
            </a:outerShdw>
          </a:effectLst>
        </p:spPr>
      </p:sp>
      <p:sp>
        <p:nvSpPr>
          <p:cNvPr id="16" name="Shape 14"/>
          <p:cNvSpPr/>
          <p:nvPr/>
        </p:nvSpPr>
        <p:spPr>
          <a:xfrm>
            <a:off x="5376672" y="1261872"/>
            <a:ext cx="100584" cy="100584"/>
          </a:xfrm>
          <a:prstGeom prst="ellipse">
            <a:avLst/>
          </a:prstGeom>
          <a:solidFill>
            <a:srgbClr val="FF605C"/>
          </a:solidFill>
          <a:ln w="12700">
            <a:solidFill>
              <a:srgbClr val="FF605C"/>
            </a:solidFill>
            <a:prstDash val="solid"/>
          </a:ln>
        </p:spPr>
      </p:sp>
      <p:sp>
        <p:nvSpPr>
          <p:cNvPr id="17" name="Shape 15"/>
          <p:cNvSpPr/>
          <p:nvPr/>
        </p:nvSpPr>
        <p:spPr>
          <a:xfrm>
            <a:off x="5522976" y="1261872"/>
            <a:ext cx="100584" cy="100584"/>
          </a:xfrm>
          <a:prstGeom prst="ellipse">
            <a:avLst/>
          </a:prstGeom>
          <a:solidFill>
            <a:srgbClr val="FFBD44"/>
          </a:solidFill>
          <a:ln w="12700">
            <a:solidFill>
              <a:srgbClr val="FFBD44"/>
            </a:solidFill>
            <a:prstDash val="solid"/>
          </a:ln>
        </p:spPr>
      </p:sp>
      <p:sp>
        <p:nvSpPr>
          <p:cNvPr id="18" name="Shape 16"/>
          <p:cNvSpPr/>
          <p:nvPr/>
        </p:nvSpPr>
        <p:spPr>
          <a:xfrm>
            <a:off x="5669280" y="1261872"/>
            <a:ext cx="100584" cy="100584"/>
          </a:xfrm>
          <a:prstGeom prst="ellipse">
            <a:avLst/>
          </a:prstGeom>
          <a:solidFill>
            <a:srgbClr val="00CA4E"/>
          </a:solidFill>
          <a:ln w="12700">
            <a:solidFill>
              <a:srgbClr val="00CA4E"/>
            </a:solidFill>
            <a:prstDash val="solid"/>
          </a:ln>
        </p:spPr>
      </p:sp>
      <p:sp>
        <p:nvSpPr>
          <p:cNvPr id="19" name="Text 17"/>
          <p:cNvSpPr/>
          <p:nvPr/>
        </p:nvSpPr>
        <p:spPr>
          <a:xfrm>
            <a:off x="5340096" y="1435608"/>
            <a:ext cx="3355848" cy="3346704"/>
          </a:xfrm>
          <a:prstGeom prst="rect">
            <a:avLst/>
          </a:prstGeom>
          <a:noFill/>
          <a:ln/>
        </p:spPr>
        <p:txBody>
          <a:bodyPr wrap="square" rtlCol="0" anchor="t"/>
          <a:lstStyle/>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fidelity = 0.91</a:t>
            </a:r>
            <a:endParaRPr lang="en-US" sz="1250" dirty="0"/>
          </a:p>
          <a:p>
            <a:pPr indent="0" marL="0">
              <a:spcAft>
                <a:spcPts val="100"/>
              </a:spcAft>
              <a:buNone/>
            </a:pP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if fidelity &gt; 0.95:</a:t>
            </a: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    print("Excellent result")</a:t>
            </a: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elif fidelity &gt; 0.85:</a:t>
            </a: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    print("Good result")</a:t>
            </a: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else:</a:t>
            </a: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    print("Needs improvement")</a:t>
            </a:r>
            <a:endParaRPr lang="en-US" sz="1250" dirty="0"/>
          </a:p>
          <a:p>
            <a:pPr indent="0" marL="0">
              <a:spcAft>
                <a:spcPts val="100"/>
              </a:spcAft>
              <a:buNone/>
            </a:pP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 Output:  Good result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9396"/>
          </a:solidFill>
          <a:ln w="12700">
            <a:solidFill>
              <a:srgbClr val="0A9396"/>
            </a:solidFill>
            <a:prstDash val="solid"/>
          </a:ln>
        </p:spPr>
      </p:sp>
      <p:sp>
        <p:nvSpPr>
          <p:cNvPr id="3" name="Shape 1"/>
          <p:cNvSpPr/>
          <p:nvPr/>
        </p:nvSpPr>
        <p:spPr>
          <a:xfrm>
            <a:off x="548640" y="2148840"/>
            <a:ext cx="384048" cy="384048"/>
          </a:xfrm>
          <a:prstGeom prst="ellipse">
            <a:avLst/>
          </a:prstGeom>
          <a:solidFill>
            <a:srgbClr val="94D2BD"/>
          </a:solidFill>
          <a:ln w="12700">
            <a:solidFill>
              <a:srgbClr val="94D2BD"/>
            </a:solidFill>
            <a:prstDash val="solid"/>
          </a:ln>
        </p:spPr>
      </p:sp>
      <p:sp>
        <p:nvSpPr>
          <p:cNvPr id="4" name="Text 2"/>
          <p:cNvSpPr/>
          <p:nvPr/>
        </p:nvSpPr>
        <p:spPr>
          <a:xfrm>
            <a:off x="548640" y="2148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5" name="Text 3"/>
          <p:cNvSpPr/>
          <p:nvPr/>
        </p:nvSpPr>
        <p:spPr>
          <a:xfrm>
            <a:off x="1097280" y="1737360"/>
            <a:ext cx="7315200" cy="1645920"/>
          </a:xfrm>
          <a:prstGeom prst="rect">
            <a:avLst/>
          </a:prstGeom>
          <a:noFill/>
          <a:ln/>
        </p:spPr>
        <p:txBody>
          <a:bodyPr wrap="square" lIns="0" tIns="0" rIns="0" bIns="0" rtlCol="0" anchor="ctr"/>
          <a:lstStyle/>
          <a:p>
            <a:pPr algn="l" indent="0" marL="0">
              <a:buNone/>
            </a:pPr>
            <a:r>
              <a:rPr lang="en-US" sz="3600" b="1" dirty="0">
                <a:solidFill>
                  <a:srgbClr val="FFFFFF"/>
                </a:solidFill>
                <a:latin typeface="Cambria" pitchFamily="34" charset="0"/>
                <a:ea typeface="Cambria" pitchFamily="34" charset="-122"/>
                <a:cs typeface="Cambria" pitchFamily="34" charset="-120"/>
              </a:rPr>
              <a:t>Loops</a:t>
            </a:r>
            <a:endParaRPr lang="en-US" sz="3600" dirty="0"/>
          </a:p>
        </p:txBody>
      </p:sp>
      <p:sp>
        <p:nvSpPr>
          <p:cNvPr id="6" name="Text 4"/>
          <p:cNvSpPr/>
          <p:nvPr/>
        </p:nvSpPr>
        <p:spPr>
          <a:xfrm>
            <a:off x="1097280" y="3246120"/>
            <a:ext cx="7315200" cy="365760"/>
          </a:xfrm>
          <a:prstGeom prst="rect">
            <a:avLst/>
          </a:prstGeom>
          <a:noFill/>
          <a:ln/>
        </p:spPr>
        <p:txBody>
          <a:bodyPr wrap="square" lIns="0" tIns="0" rIns="0" bIns="0" rtlCol="0" anchor="ctr"/>
          <a:lstStyle/>
          <a:p>
            <a:pPr indent="0" marL="0">
              <a:buNone/>
            </a:pPr>
            <a:r>
              <a:rPr lang="en-US" sz="1600" dirty="0">
                <a:solidFill>
                  <a:srgbClr val="94D2BD"/>
                </a:solidFill>
                <a:latin typeface="Calibri" pitchFamily="34" charset="0"/>
                <a:ea typeface="Calibri" pitchFamily="34" charset="-122"/>
                <a:cs typeface="Calibri" pitchFamily="34" charset="-120"/>
              </a:rPr>
              <a:t>Repeating an action without repeating your code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3EE"/>
        </a:solidFill>
      </p:bgPr>
    </p:bg>
    <p:spTree>
      <p:nvGrpSpPr>
        <p:cNvPr id="1" name=""/>
        <p:cNvGrpSpPr/>
        <p:nvPr/>
      </p:nvGrpSpPr>
      <p:grpSpPr>
        <a:xfrm>
          <a:off x="0" y="0"/>
          <a:ext cx="0" cy="0"/>
          <a:chOff x="0" y="0"/>
          <a:chExt cx="0" cy="0"/>
        </a:xfrm>
      </p:grpSpPr>
      <p:sp>
        <p:nvSpPr>
          <p:cNvPr id="2" name="Shape 0"/>
          <p:cNvSpPr/>
          <p:nvPr/>
        </p:nvSpPr>
        <p:spPr>
          <a:xfrm>
            <a:off x="457200" y="228600"/>
            <a:ext cx="1645920" cy="256032"/>
          </a:xfrm>
          <a:prstGeom prst="roundRect">
            <a:avLst>
              <a:gd name="adj" fmla="val 50000"/>
            </a:avLst>
          </a:prstGeom>
          <a:solidFill>
            <a:srgbClr val="0A9396"/>
          </a:solidFill>
          <a:ln w="12700">
            <a:solidFill>
              <a:srgbClr val="0A9396"/>
            </a:solidFill>
            <a:prstDash val="solid"/>
          </a:ln>
        </p:spPr>
      </p:sp>
      <p:sp>
        <p:nvSpPr>
          <p:cNvPr id="3" name="Text 1"/>
          <p:cNvSpPr/>
          <p:nvPr/>
        </p:nvSpPr>
        <p:spPr>
          <a:xfrm>
            <a:off x="457200" y="228600"/>
            <a:ext cx="1645920" cy="256032"/>
          </a:xfrm>
          <a:prstGeom prst="rect">
            <a:avLst/>
          </a:prstGeom>
          <a:noFill/>
          <a:ln/>
        </p:spPr>
        <p:txBody>
          <a:bodyPr wrap="square" lIns="0" tIns="0" rIns="0" bIns="0" rtlCol="0" anchor="ctr"/>
          <a:lstStyle/>
          <a:p>
            <a:pPr algn="ctr" indent="0" marL="0">
              <a:buNone/>
            </a:pPr>
            <a:r>
              <a:rPr lang="en-US" sz="1000" b="1" spc="100" kern="0" dirty="0">
                <a:solidFill>
                  <a:srgbClr val="FFFFFF"/>
                </a:solidFill>
              </a:rPr>
              <a:t>04  LOOPS</a:t>
            </a:r>
            <a:endParaRPr lang="en-US" sz="1000" dirty="0"/>
          </a:p>
        </p:txBody>
      </p:sp>
      <p:sp>
        <p:nvSpPr>
          <p:cNvPr id="4" name="Text 2"/>
          <p:cNvSpPr/>
          <p:nvPr/>
        </p:nvSpPr>
        <p:spPr>
          <a:xfrm>
            <a:off x="457200" y="594360"/>
            <a:ext cx="8229600" cy="502920"/>
          </a:xfrm>
          <a:prstGeom prst="rect">
            <a:avLst/>
          </a:prstGeom>
          <a:noFill/>
          <a:ln/>
        </p:spPr>
        <p:txBody>
          <a:bodyPr wrap="square" lIns="0" tIns="0" rIns="0" bIns="0" rtlCol="0" anchor="ctr"/>
          <a:lstStyle/>
          <a:p>
            <a:pPr indent="0" marL="0">
              <a:buNone/>
            </a:pPr>
            <a:r>
              <a:rPr lang="en-US" sz="2600" b="1" dirty="0">
                <a:solidFill>
                  <a:srgbClr val="0D1B2A"/>
                </a:solidFill>
                <a:latin typeface="Cambria" pitchFamily="34" charset="0"/>
                <a:ea typeface="Cambria" pitchFamily="34" charset="-122"/>
                <a:cs typeface="Cambria" pitchFamily="34" charset="-120"/>
              </a:rPr>
              <a:t>for loops — going through a list</a:t>
            </a:r>
            <a:endParaRPr lang="en-US" sz="2600" dirty="0"/>
          </a:p>
        </p:txBody>
      </p:sp>
      <p:sp>
        <p:nvSpPr>
          <p:cNvPr id="5" name="Shape 3"/>
          <p:cNvSpPr/>
          <p:nvPr/>
        </p:nvSpPr>
        <p:spPr>
          <a:xfrm>
            <a:off x="457200" y="1188720"/>
            <a:ext cx="4114800" cy="2743200"/>
          </a:xfrm>
          <a:prstGeom prst="roundRect">
            <a:avLst>
              <a:gd name="adj" fmla="val 2667"/>
            </a:avLst>
          </a:prstGeom>
          <a:solidFill>
            <a:srgbClr val="1E2D3D"/>
          </a:solidFill>
          <a:ln w="12700">
            <a:solidFill>
              <a:srgbClr val="0A9396"/>
            </a:solidFill>
            <a:prstDash val="solid"/>
          </a:ln>
          <a:effectLst>
            <a:outerShdw sx="100000" sy="100000" kx="0" ky="0" algn="bl" rotWithShape="0" blurRad="101600" dist="38100" dir="2700000">
              <a:srgbClr val="000000">
                <a:alpha val="20000"/>
              </a:srgbClr>
            </a:outerShdw>
          </a:effectLst>
        </p:spPr>
      </p:sp>
      <p:sp>
        <p:nvSpPr>
          <p:cNvPr id="6" name="Shape 4"/>
          <p:cNvSpPr/>
          <p:nvPr/>
        </p:nvSpPr>
        <p:spPr>
          <a:xfrm>
            <a:off x="621792" y="1307592"/>
            <a:ext cx="100584" cy="100584"/>
          </a:xfrm>
          <a:prstGeom prst="ellipse">
            <a:avLst/>
          </a:prstGeom>
          <a:solidFill>
            <a:srgbClr val="FF605C"/>
          </a:solidFill>
          <a:ln w="12700">
            <a:solidFill>
              <a:srgbClr val="FF605C"/>
            </a:solidFill>
            <a:prstDash val="solid"/>
          </a:ln>
        </p:spPr>
      </p:sp>
      <p:sp>
        <p:nvSpPr>
          <p:cNvPr id="7" name="Shape 5"/>
          <p:cNvSpPr/>
          <p:nvPr/>
        </p:nvSpPr>
        <p:spPr>
          <a:xfrm>
            <a:off x="768096" y="1307592"/>
            <a:ext cx="100584" cy="100584"/>
          </a:xfrm>
          <a:prstGeom prst="ellipse">
            <a:avLst/>
          </a:prstGeom>
          <a:solidFill>
            <a:srgbClr val="FFBD44"/>
          </a:solidFill>
          <a:ln w="12700">
            <a:solidFill>
              <a:srgbClr val="FFBD44"/>
            </a:solidFill>
            <a:prstDash val="solid"/>
          </a:ln>
        </p:spPr>
      </p:sp>
      <p:sp>
        <p:nvSpPr>
          <p:cNvPr id="8" name="Shape 6"/>
          <p:cNvSpPr/>
          <p:nvPr/>
        </p:nvSpPr>
        <p:spPr>
          <a:xfrm>
            <a:off x="914400" y="1307592"/>
            <a:ext cx="100584" cy="100584"/>
          </a:xfrm>
          <a:prstGeom prst="ellipse">
            <a:avLst/>
          </a:prstGeom>
          <a:solidFill>
            <a:srgbClr val="00CA4E"/>
          </a:solidFill>
          <a:ln w="12700">
            <a:solidFill>
              <a:srgbClr val="00CA4E"/>
            </a:solidFill>
            <a:prstDash val="solid"/>
          </a:ln>
        </p:spPr>
      </p:sp>
      <p:sp>
        <p:nvSpPr>
          <p:cNvPr id="9" name="Text 7"/>
          <p:cNvSpPr/>
          <p:nvPr/>
        </p:nvSpPr>
        <p:spPr>
          <a:xfrm>
            <a:off x="585216" y="1481328"/>
            <a:ext cx="3858768" cy="2340864"/>
          </a:xfrm>
          <a:prstGeom prst="rect">
            <a:avLst/>
          </a:prstGeom>
          <a:noFill/>
          <a:ln/>
        </p:spPr>
        <p:txBody>
          <a:bodyPr wrap="square" rtlCol="0" anchor="t"/>
          <a:lstStyle/>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 Loop over a list</a:t>
            </a: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qubit_labels = ["q0", "q1", "q2"]</a:t>
            </a:r>
            <a:endParaRPr lang="en-US" sz="1250" dirty="0"/>
          </a:p>
          <a:p>
            <a:pPr indent="0" marL="0">
              <a:spcAft>
                <a:spcPts val="100"/>
              </a:spcAft>
              <a:buNone/>
            </a:pP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for label in qubit_labels:</a:t>
            </a: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    print(label)</a:t>
            </a:r>
            <a:endParaRPr lang="en-US" sz="1250" dirty="0"/>
          </a:p>
          <a:p>
            <a:pPr indent="0" marL="0">
              <a:spcAft>
                <a:spcPts val="100"/>
              </a:spcAft>
              <a:buNone/>
            </a:pP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 q0</a:t>
            </a: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 q1</a:t>
            </a: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 q2</a:t>
            </a:r>
            <a:endParaRPr lang="en-US" sz="1250" dirty="0"/>
          </a:p>
        </p:txBody>
      </p:sp>
      <p:sp>
        <p:nvSpPr>
          <p:cNvPr id="10" name="Shape 8"/>
          <p:cNvSpPr/>
          <p:nvPr/>
        </p:nvSpPr>
        <p:spPr>
          <a:xfrm>
            <a:off x="4754880" y="1188720"/>
            <a:ext cx="4114800" cy="2743200"/>
          </a:xfrm>
          <a:prstGeom prst="roundRect">
            <a:avLst>
              <a:gd name="adj" fmla="val 2667"/>
            </a:avLst>
          </a:prstGeom>
          <a:solidFill>
            <a:srgbClr val="1E2D3D"/>
          </a:solidFill>
          <a:ln w="12700">
            <a:solidFill>
              <a:srgbClr val="0A9396"/>
            </a:solidFill>
            <a:prstDash val="solid"/>
          </a:ln>
          <a:effectLst>
            <a:outerShdw sx="100000" sy="100000" kx="0" ky="0" algn="bl" rotWithShape="0" blurRad="101600" dist="38100" dir="2700000">
              <a:srgbClr val="000000">
                <a:alpha val="20000"/>
              </a:srgbClr>
            </a:outerShdw>
          </a:effectLst>
        </p:spPr>
      </p:sp>
      <p:sp>
        <p:nvSpPr>
          <p:cNvPr id="11" name="Shape 9"/>
          <p:cNvSpPr/>
          <p:nvPr/>
        </p:nvSpPr>
        <p:spPr>
          <a:xfrm>
            <a:off x="4919472" y="1307592"/>
            <a:ext cx="100584" cy="100584"/>
          </a:xfrm>
          <a:prstGeom prst="ellipse">
            <a:avLst/>
          </a:prstGeom>
          <a:solidFill>
            <a:srgbClr val="FF605C"/>
          </a:solidFill>
          <a:ln w="12700">
            <a:solidFill>
              <a:srgbClr val="FF605C"/>
            </a:solidFill>
            <a:prstDash val="solid"/>
          </a:ln>
        </p:spPr>
      </p:sp>
      <p:sp>
        <p:nvSpPr>
          <p:cNvPr id="12" name="Shape 10"/>
          <p:cNvSpPr/>
          <p:nvPr/>
        </p:nvSpPr>
        <p:spPr>
          <a:xfrm>
            <a:off x="5065776" y="1307592"/>
            <a:ext cx="100584" cy="100584"/>
          </a:xfrm>
          <a:prstGeom prst="ellipse">
            <a:avLst/>
          </a:prstGeom>
          <a:solidFill>
            <a:srgbClr val="FFBD44"/>
          </a:solidFill>
          <a:ln w="12700">
            <a:solidFill>
              <a:srgbClr val="FFBD44"/>
            </a:solidFill>
            <a:prstDash val="solid"/>
          </a:ln>
        </p:spPr>
      </p:sp>
      <p:sp>
        <p:nvSpPr>
          <p:cNvPr id="13" name="Shape 11"/>
          <p:cNvSpPr/>
          <p:nvPr/>
        </p:nvSpPr>
        <p:spPr>
          <a:xfrm>
            <a:off x="5212080" y="1307592"/>
            <a:ext cx="100584" cy="100584"/>
          </a:xfrm>
          <a:prstGeom prst="ellipse">
            <a:avLst/>
          </a:prstGeom>
          <a:solidFill>
            <a:srgbClr val="00CA4E"/>
          </a:solidFill>
          <a:ln w="12700">
            <a:solidFill>
              <a:srgbClr val="00CA4E"/>
            </a:solidFill>
            <a:prstDash val="solid"/>
          </a:ln>
        </p:spPr>
      </p:sp>
      <p:sp>
        <p:nvSpPr>
          <p:cNvPr id="14" name="Text 12"/>
          <p:cNvSpPr/>
          <p:nvPr/>
        </p:nvSpPr>
        <p:spPr>
          <a:xfrm>
            <a:off x="4882896" y="1481328"/>
            <a:ext cx="3858768" cy="2340864"/>
          </a:xfrm>
          <a:prstGeom prst="rect">
            <a:avLst/>
          </a:prstGeom>
          <a:noFill/>
          <a:ln/>
        </p:spPr>
        <p:txBody>
          <a:bodyPr wrap="square" rtlCol="0" anchor="t"/>
          <a:lstStyle/>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 range() for a fixed number of repeats</a:t>
            </a: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for i in range(5):</a:t>
            </a: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    print("Repetition", i)</a:t>
            </a:r>
            <a:endParaRPr lang="en-US" sz="1250" dirty="0"/>
          </a:p>
          <a:p>
            <a:pPr indent="0" marL="0">
              <a:spcAft>
                <a:spcPts val="100"/>
              </a:spcAft>
              <a:buNone/>
            </a:pP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 Repetition 0</a:t>
            </a: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 Repetition 1</a:t>
            </a: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 Repetition 2</a:t>
            </a: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 Repetition 3</a:t>
            </a: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 Repetition 4</a:t>
            </a:r>
            <a:endParaRPr lang="en-US" sz="1250" dirty="0"/>
          </a:p>
        </p:txBody>
      </p:sp>
      <p:sp>
        <p:nvSpPr>
          <p:cNvPr id="15" name="Shape 13"/>
          <p:cNvSpPr/>
          <p:nvPr/>
        </p:nvSpPr>
        <p:spPr>
          <a:xfrm>
            <a:off x="457200" y="4069080"/>
            <a:ext cx="8321040" cy="777240"/>
          </a:xfrm>
          <a:prstGeom prst="roundRect">
            <a:avLst>
              <a:gd name="adj" fmla="val 9412"/>
            </a:avLst>
          </a:prstGeom>
          <a:solidFill>
            <a:srgbClr val="FFF8E1"/>
          </a:solidFill>
          <a:ln w="12700">
            <a:solidFill>
              <a:srgbClr val="F4A261"/>
            </a:solidFill>
            <a:prstDash val="solid"/>
          </a:ln>
        </p:spPr>
      </p:sp>
      <p:sp>
        <p:nvSpPr>
          <p:cNvPr id="16" name="Text 14"/>
          <p:cNvSpPr/>
          <p:nvPr/>
        </p:nvSpPr>
        <p:spPr>
          <a:xfrm>
            <a:off x="640080" y="4142232"/>
            <a:ext cx="7955280" cy="621792"/>
          </a:xfrm>
          <a:prstGeom prst="rect">
            <a:avLst/>
          </a:prstGeom>
          <a:noFill/>
          <a:ln/>
        </p:spPr>
        <p:txBody>
          <a:bodyPr wrap="square" lIns="0" tIns="0" rIns="0" bIns="0" rtlCol="0" anchor="ctr"/>
          <a:lstStyle/>
          <a:p>
            <a:pPr indent="0" marL="0">
              <a:buNone/>
            </a:pPr>
            <a:r>
              <a:rPr lang="en-US" sz="1300" dirty="0">
                <a:solidFill>
                  <a:srgbClr val="8B5E00"/>
                </a:solidFill>
                <a:latin typeface="Calibri" pitchFamily="34" charset="0"/>
                <a:ea typeface="Calibri" pitchFamily="34" charset="-122"/>
                <a:cs typeface="Calibri" pitchFamily="34" charset="-120"/>
              </a:rPr>
              <a:t>range(5) gives 0, 1, 2, 3, 4 — it stops before 5. This is intentional, and it trips up almost everyone the first time.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3EE"/>
        </a:solidFill>
      </p:bgPr>
    </p:bg>
    <p:spTree>
      <p:nvGrpSpPr>
        <p:cNvPr id="1" name=""/>
        <p:cNvGrpSpPr/>
        <p:nvPr/>
      </p:nvGrpSpPr>
      <p:grpSpPr>
        <a:xfrm>
          <a:off x="0" y="0"/>
          <a:ext cx="0" cy="0"/>
          <a:chOff x="0" y="0"/>
          <a:chExt cx="0" cy="0"/>
        </a:xfrm>
      </p:grpSpPr>
      <p:sp>
        <p:nvSpPr>
          <p:cNvPr id="2" name="Shape 0"/>
          <p:cNvSpPr/>
          <p:nvPr/>
        </p:nvSpPr>
        <p:spPr>
          <a:xfrm>
            <a:off x="457200" y="228600"/>
            <a:ext cx="1645920" cy="256032"/>
          </a:xfrm>
          <a:prstGeom prst="roundRect">
            <a:avLst>
              <a:gd name="adj" fmla="val 50000"/>
            </a:avLst>
          </a:prstGeom>
          <a:solidFill>
            <a:srgbClr val="0A9396"/>
          </a:solidFill>
          <a:ln w="12700">
            <a:solidFill>
              <a:srgbClr val="0A9396"/>
            </a:solidFill>
            <a:prstDash val="solid"/>
          </a:ln>
        </p:spPr>
      </p:sp>
      <p:sp>
        <p:nvSpPr>
          <p:cNvPr id="3" name="Text 1"/>
          <p:cNvSpPr/>
          <p:nvPr/>
        </p:nvSpPr>
        <p:spPr>
          <a:xfrm>
            <a:off x="457200" y="228600"/>
            <a:ext cx="1645920" cy="256032"/>
          </a:xfrm>
          <a:prstGeom prst="rect">
            <a:avLst/>
          </a:prstGeom>
          <a:noFill/>
          <a:ln/>
        </p:spPr>
        <p:txBody>
          <a:bodyPr wrap="square" lIns="0" tIns="0" rIns="0" bIns="0" rtlCol="0" anchor="ctr"/>
          <a:lstStyle/>
          <a:p>
            <a:pPr algn="ctr" indent="0" marL="0">
              <a:buNone/>
            </a:pPr>
            <a:r>
              <a:rPr lang="en-US" sz="1000" b="1" spc="100" kern="0" dirty="0">
                <a:solidFill>
                  <a:srgbClr val="FFFFFF"/>
                </a:solidFill>
              </a:rPr>
              <a:t>04  LOOPS</a:t>
            </a:r>
            <a:endParaRPr lang="en-US" sz="1000" dirty="0"/>
          </a:p>
        </p:txBody>
      </p:sp>
      <p:sp>
        <p:nvSpPr>
          <p:cNvPr id="4" name="Text 2"/>
          <p:cNvSpPr/>
          <p:nvPr/>
        </p:nvSpPr>
        <p:spPr>
          <a:xfrm>
            <a:off x="457200" y="594360"/>
            <a:ext cx="8229600" cy="502920"/>
          </a:xfrm>
          <a:prstGeom prst="rect">
            <a:avLst/>
          </a:prstGeom>
          <a:noFill/>
          <a:ln/>
        </p:spPr>
        <p:txBody>
          <a:bodyPr wrap="square" lIns="0" tIns="0" rIns="0" bIns="0" rtlCol="0" anchor="ctr"/>
          <a:lstStyle/>
          <a:p>
            <a:pPr indent="0" marL="0">
              <a:buNone/>
            </a:pPr>
            <a:r>
              <a:rPr lang="en-US" sz="2400" b="1" dirty="0">
                <a:solidFill>
                  <a:srgbClr val="0D1B2A"/>
                </a:solidFill>
                <a:latin typeface="Cambria" pitchFamily="34" charset="0"/>
                <a:ea typeface="Cambria" pitchFamily="34" charset="-122"/>
                <a:cs typeface="Cambria" pitchFamily="34" charset="-120"/>
              </a:rPr>
              <a:t>Loop + conditional — the most common pattern</a:t>
            </a:r>
            <a:endParaRPr lang="en-US" sz="2400" dirty="0"/>
          </a:p>
        </p:txBody>
      </p:sp>
      <p:sp>
        <p:nvSpPr>
          <p:cNvPr id="5" name="Shape 3"/>
          <p:cNvSpPr/>
          <p:nvPr/>
        </p:nvSpPr>
        <p:spPr>
          <a:xfrm>
            <a:off x="457200" y="1207008"/>
            <a:ext cx="5303520" cy="3474720"/>
          </a:xfrm>
          <a:prstGeom prst="roundRect">
            <a:avLst>
              <a:gd name="adj" fmla="val 2105"/>
            </a:avLst>
          </a:prstGeom>
          <a:solidFill>
            <a:srgbClr val="1E2D3D"/>
          </a:solidFill>
          <a:ln w="12700">
            <a:solidFill>
              <a:srgbClr val="0A9396"/>
            </a:solidFill>
            <a:prstDash val="solid"/>
          </a:ln>
          <a:effectLst>
            <a:outerShdw sx="100000" sy="100000" kx="0" ky="0" algn="bl" rotWithShape="0" blurRad="101600" dist="38100" dir="2700000">
              <a:srgbClr val="000000">
                <a:alpha val="20000"/>
              </a:srgbClr>
            </a:outerShdw>
          </a:effectLst>
        </p:spPr>
      </p:sp>
      <p:sp>
        <p:nvSpPr>
          <p:cNvPr id="6" name="Shape 4"/>
          <p:cNvSpPr/>
          <p:nvPr/>
        </p:nvSpPr>
        <p:spPr>
          <a:xfrm>
            <a:off x="621792" y="1325880"/>
            <a:ext cx="100584" cy="100584"/>
          </a:xfrm>
          <a:prstGeom prst="ellipse">
            <a:avLst/>
          </a:prstGeom>
          <a:solidFill>
            <a:srgbClr val="FF605C"/>
          </a:solidFill>
          <a:ln w="12700">
            <a:solidFill>
              <a:srgbClr val="FF605C"/>
            </a:solidFill>
            <a:prstDash val="solid"/>
          </a:ln>
        </p:spPr>
      </p:sp>
      <p:sp>
        <p:nvSpPr>
          <p:cNvPr id="7" name="Shape 5"/>
          <p:cNvSpPr/>
          <p:nvPr/>
        </p:nvSpPr>
        <p:spPr>
          <a:xfrm>
            <a:off x="768096" y="1325880"/>
            <a:ext cx="100584" cy="100584"/>
          </a:xfrm>
          <a:prstGeom prst="ellipse">
            <a:avLst/>
          </a:prstGeom>
          <a:solidFill>
            <a:srgbClr val="FFBD44"/>
          </a:solidFill>
          <a:ln w="12700">
            <a:solidFill>
              <a:srgbClr val="FFBD44"/>
            </a:solidFill>
            <a:prstDash val="solid"/>
          </a:ln>
        </p:spPr>
      </p:sp>
      <p:sp>
        <p:nvSpPr>
          <p:cNvPr id="8" name="Shape 6"/>
          <p:cNvSpPr/>
          <p:nvPr/>
        </p:nvSpPr>
        <p:spPr>
          <a:xfrm>
            <a:off x="914400" y="1325880"/>
            <a:ext cx="100584" cy="100584"/>
          </a:xfrm>
          <a:prstGeom prst="ellipse">
            <a:avLst/>
          </a:prstGeom>
          <a:solidFill>
            <a:srgbClr val="00CA4E"/>
          </a:solidFill>
          <a:ln w="12700">
            <a:solidFill>
              <a:srgbClr val="00CA4E"/>
            </a:solidFill>
            <a:prstDash val="solid"/>
          </a:ln>
        </p:spPr>
      </p:sp>
      <p:sp>
        <p:nvSpPr>
          <p:cNvPr id="9" name="Text 7"/>
          <p:cNvSpPr/>
          <p:nvPr/>
        </p:nvSpPr>
        <p:spPr>
          <a:xfrm>
            <a:off x="585216" y="1499616"/>
            <a:ext cx="5047488" cy="3072384"/>
          </a:xfrm>
          <a:prstGeom prst="rect">
            <a:avLst/>
          </a:prstGeom>
          <a:noFill/>
          <a:ln/>
        </p:spPr>
        <p:txBody>
          <a:bodyPr wrap="square" rtlCol="0" anchor="t"/>
          <a:lstStyle/>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measurement_results = [0, 1, 1, 0, 1, 1, 1]</a:t>
            </a:r>
            <a:endParaRPr lang="en-US" sz="1250" dirty="0"/>
          </a:p>
          <a:p>
            <a:pPr indent="0" marL="0">
              <a:spcAft>
                <a:spcPts val="100"/>
              </a:spcAft>
              <a:buNone/>
            </a:pP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count_of_ones = 0</a:t>
            </a:r>
            <a:endParaRPr lang="en-US" sz="1250" dirty="0"/>
          </a:p>
          <a:p>
            <a:pPr indent="0" marL="0">
              <a:spcAft>
                <a:spcPts val="100"/>
              </a:spcAft>
              <a:buNone/>
            </a:pP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for result in measurement_results:</a:t>
            </a: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    if result == 1:</a:t>
            </a: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        count_of_ones = count_of_ones + 1</a:t>
            </a:r>
            <a:endParaRPr lang="en-US" sz="1250" dirty="0"/>
          </a:p>
          <a:p>
            <a:pPr indent="0" marL="0">
              <a:spcAft>
                <a:spcPts val="100"/>
              </a:spcAft>
              <a:buNone/>
            </a:pP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print("Number of ones measured:", count_of_ones)</a:t>
            </a:r>
            <a:endParaRPr lang="en-US" sz="1250" dirty="0"/>
          </a:p>
          <a:p>
            <a:pPr indent="0" marL="0">
              <a:spcAft>
                <a:spcPts val="100"/>
              </a:spcAft>
              <a:buNone/>
            </a:pP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 Number of ones measured: 5</a:t>
            </a:r>
            <a:endParaRPr lang="en-US" sz="1250" dirty="0"/>
          </a:p>
        </p:txBody>
      </p:sp>
      <p:sp>
        <p:nvSpPr>
          <p:cNvPr id="10" name="Shape 8"/>
          <p:cNvSpPr/>
          <p:nvPr/>
        </p:nvSpPr>
        <p:spPr>
          <a:xfrm>
            <a:off x="5989320" y="1207008"/>
            <a:ext cx="2834640" cy="3474720"/>
          </a:xfrm>
          <a:prstGeom prst="roundRect">
            <a:avLst>
              <a:gd name="adj" fmla="val 3226"/>
            </a:avLst>
          </a:prstGeom>
          <a:solidFill>
            <a:srgbClr val="EBF8FA"/>
          </a:solidFill>
          <a:ln w="12700">
            <a:solidFill>
              <a:srgbClr val="94D2BD"/>
            </a:solidFill>
            <a:prstDash val="solid"/>
          </a:ln>
        </p:spPr>
      </p:sp>
      <p:sp>
        <p:nvSpPr>
          <p:cNvPr id="11" name="Text 9"/>
          <p:cNvSpPr/>
          <p:nvPr/>
        </p:nvSpPr>
        <p:spPr>
          <a:xfrm>
            <a:off x="6126480" y="1325880"/>
            <a:ext cx="2560320" cy="274320"/>
          </a:xfrm>
          <a:prstGeom prst="rect">
            <a:avLst/>
          </a:prstGeom>
          <a:noFill/>
          <a:ln/>
        </p:spPr>
        <p:txBody>
          <a:bodyPr wrap="square" lIns="0" tIns="0" rIns="0" bIns="0" rtlCol="0" anchor="ctr"/>
          <a:lstStyle/>
          <a:p>
            <a:pPr indent="0" marL="0">
              <a:buNone/>
            </a:pPr>
            <a:r>
              <a:rPr lang="en-US" sz="1200" b="1" dirty="0">
                <a:solidFill>
                  <a:srgbClr val="0A9396"/>
                </a:solidFill>
                <a:latin typeface="Calibri" pitchFamily="34" charset="0"/>
                <a:ea typeface="Calibri" pitchFamily="34" charset="-122"/>
                <a:cs typeface="Calibri" pitchFamily="34" charset="-120"/>
              </a:rPr>
              <a:t>What is happening</a:t>
            </a:r>
            <a:endParaRPr lang="en-US" sz="1200" dirty="0"/>
          </a:p>
        </p:txBody>
      </p:sp>
      <p:sp>
        <p:nvSpPr>
          <p:cNvPr id="12" name="Text 10"/>
          <p:cNvSpPr/>
          <p:nvPr/>
        </p:nvSpPr>
        <p:spPr>
          <a:xfrm>
            <a:off x="6126480" y="1664208"/>
            <a:ext cx="2606040" cy="2834640"/>
          </a:xfrm>
          <a:prstGeom prst="rect">
            <a:avLst/>
          </a:prstGeom>
          <a:noFill/>
          <a:ln/>
        </p:spPr>
        <p:txBody>
          <a:bodyPr wrap="square" rtlCol="0" anchor="t"/>
          <a:lstStyle/>
          <a:p>
            <a:pPr indent="0" marL="0">
              <a:spcAft>
                <a:spcPts val="800"/>
              </a:spcAft>
              <a:buNone/>
            </a:pPr>
            <a:r>
              <a:rPr lang="en-US" sz="1200" b="1" dirty="0">
                <a:solidFill>
                  <a:srgbClr val="0A9396"/>
                </a:solidFill>
                <a:latin typeface="Calibri" pitchFamily="34" charset="0"/>
                <a:ea typeface="Calibri" pitchFamily="34" charset="-122"/>
                <a:cs typeface="Calibri" pitchFamily="34" charset="-120"/>
              </a:rPr>
              <a:t>1.  </a:t>
            </a:r>
            <a:pPr indent="0" marL="0">
              <a:spcAft>
                <a:spcPts val="800"/>
              </a:spcAft>
              <a:buNone/>
            </a:pPr>
            <a:r>
              <a:rPr lang="en-US" sz="1200" dirty="0">
                <a:solidFill>
                  <a:srgbClr val="1A1A2E"/>
                </a:solidFill>
                <a:latin typeface="Calibri" pitchFamily="34" charset="0"/>
                <a:ea typeface="Calibri" pitchFamily="34" charset="-122"/>
                <a:cs typeface="Calibri" pitchFamily="34" charset="-120"/>
              </a:rPr>
              <a:t>Start a counter at zero</a:t>
            </a:r>
            <a:pPr indent="0" marL="0">
              <a:spcAft>
                <a:spcPts val="800"/>
              </a:spcAft>
              <a:buNone/>
            </a:pPr>
            <a:endParaRPr lang="en-US" sz="1200" dirty="0"/>
          </a:p>
          <a:p>
            <a:pPr indent="0" marL="0">
              <a:spcAft>
                <a:spcPts val="800"/>
              </a:spcAft>
              <a:buNone/>
            </a:pPr>
            <a:r>
              <a:rPr lang="en-US" sz="1200" b="1" dirty="0">
                <a:solidFill>
                  <a:srgbClr val="0A9396"/>
                </a:solidFill>
                <a:latin typeface="Calibri" pitchFamily="34" charset="0"/>
                <a:ea typeface="Calibri" pitchFamily="34" charset="-122"/>
                <a:cs typeface="Calibri" pitchFamily="34" charset="-120"/>
              </a:rPr>
              <a:t>2.  </a:t>
            </a:r>
            <a:pPr indent="0" marL="0">
              <a:spcAft>
                <a:spcPts val="800"/>
              </a:spcAft>
              <a:buNone/>
            </a:pPr>
            <a:r>
              <a:rPr lang="en-US" sz="1200" dirty="0">
                <a:solidFill>
                  <a:srgbClr val="1A1A2E"/>
                </a:solidFill>
                <a:latin typeface="Calibri" pitchFamily="34" charset="0"/>
                <a:ea typeface="Calibri" pitchFamily="34" charset="-122"/>
                <a:cs typeface="Calibri" pitchFamily="34" charset="-120"/>
              </a:rPr>
              <a:t>Look at each measurement one by one</a:t>
            </a:r>
            <a:pPr indent="0" marL="0">
              <a:spcAft>
                <a:spcPts val="800"/>
              </a:spcAft>
              <a:buNone/>
            </a:pPr>
            <a:endParaRPr lang="en-US" sz="1200" dirty="0"/>
          </a:p>
          <a:p>
            <a:pPr indent="0" marL="0">
              <a:spcAft>
                <a:spcPts val="800"/>
              </a:spcAft>
              <a:buNone/>
            </a:pPr>
            <a:r>
              <a:rPr lang="en-US" sz="1200" b="1" dirty="0">
                <a:solidFill>
                  <a:srgbClr val="0A9396"/>
                </a:solidFill>
                <a:latin typeface="Calibri" pitchFamily="34" charset="0"/>
                <a:ea typeface="Calibri" pitchFamily="34" charset="-122"/>
                <a:cs typeface="Calibri" pitchFamily="34" charset="-120"/>
              </a:rPr>
              <a:t>3.  </a:t>
            </a:r>
            <a:pPr indent="0" marL="0">
              <a:spcAft>
                <a:spcPts val="800"/>
              </a:spcAft>
              <a:buNone/>
            </a:pPr>
            <a:r>
              <a:rPr lang="en-US" sz="1200" dirty="0">
                <a:solidFill>
                  <a:srgbClr val="1A1A2E"/>
                </a:solidFill>
                <a:latin typeface="Calibri" pitchFamily="34" charset="0"/>
                <a:ea typeface="Calibri" pitchFamily="34" charset="-122"/>
                <a:cs typeface="Calibri" pitchFamily="34" charset="-120"/>
              </a:rPr>
              <a:t>If it is a 1, add 1 to the counter</a:t>
            </a:r>
            <a:pPr indent="0" marL="0">
              <a:spcAft>
                <a:spcPts val="800"/>
              </a:spcAft>
              <a:buNone/>
            </a:pPr>
            <a:endParaRPr lang="en-US" sz="1200" dirty="0"/>
          </a:p>
          <a:p>
            <a:pPr indent="0" marL="0">
              <a:spcAft>
                <a:spcPts val="800"/>
              </a:spcAft>
              <a:buNone/>
            </a:pPr>
            <a:r>
              <a:rPr lang="en-US" sz="1200" b="1" dirty="0">
                <a:solidFill>
                  <a:srgbClr val="0A9396"/>
                </a:solidFill>
                <a:latin typeface="Calibri" pitchFamily="34" charset="0"/>
                <a:ea typeface="Calibri" pitchFamily="34" charset="-122"/>
                <a:cs typeface="Calibri" pitchFamily="34" charset="-120"/>
              </a:rPr>
              <a:t>4.  </a:t>
            </a:r>
            <a:pPr indent="0" marL="0">
              <a:spcAft>
                <a:spcPts val="800"/>
              </a:spcAft>
              <a:buNone/>
            </a:pPr>
            <a:r>
              <a:rPr lang="en-US" sz="1200" dirty="0">
                <a:solidFill>
                  <a:srgbClr val="1A1A2E"/>
                </a:solidFill>
                <a:latin typeface="Calibri" pitchFamily="34" charset="0"/>
                <a:ea typeface="Calibri" pitchFamily="34" charset="-122"/>
                <a:cs typeface="Calibri" pitchFamily="34" charset="-120"/>
              </a:rPr>
              <a:t>After all measurements, print the total</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9396"/>
          </a:solidFill>
          <a:ln w="12700">
            <a:solidFill>
              <a:srgbClr val="0A9396"/>
            </a:solidFill>
            <a:prstDash val="solid"/>
          </a:ln>
        </p:spPr>
      </p:sp>
      <p:sp>
        <p:nvSpPr>
          <p:cNvPr id="3" name="Shape 1"/>
          <p:cNvSpPr/>
          <p:nvPr/>
        </p:nvSpPr>
        <p:spPr>
          <a:xfrm>
            <a:off x="548640" y="2148840"/>
            <a:ext cx="384048" cy="384048"/>
          </a:xfrm>
          <a:prstGeom prst="ellipse">
            <a:avLst/>
          </a:prstGeom>
          <a:solidFill>
            <a:srgbClr val="94D2BD"/>
          </a:solidFill>
          <a:ln w="12700">
            <a:solidFill>
              <a:srgbClr val="94D2BD"/>
            </a:solidFill>
            <a:prstDash val="solid"/>
          </a:ln>
        </p:spPr>
      </p:sp>
      <p:sp>
        <p:nvSpPr>
          <p:cNvPr id="4" name="Text 2"/>
          <p:cNvSpPr/>
          <p:nvPr/>
        </p:nvSpPr>
        <p:spPr>
          <a:xfrm>
            <a:off x="548640" y="2148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5" name="Text 3"/>
          <p:cNvSpPr/>
          <p:nvPr/>
        </p:nvSpPr>
        <p:spPr>
          <a:xfrm>
            <a:off x="1097280" y="1737360"/>
            <a:ext cx="7315200" cy="1645920"/>
          </a:xfrm>
          <a:prstGeom prst="rect">
            <a:avLst/>
          </a:prstGeom>
          <a:noFill/>
          <a:ln/>
        </p:spPr>
        <p:txBody>
          <a:bodyPr wrap="square" lIns="0" tIns="0" rIns="0" bIns="0" rtlCol="0" anchor="ctr"/>
          <a:lstStyle/>
          <a:p>
            <a:pPr algn="l" indent="0" marL="0">
              <a:buNone/>
            </a:pPr>
            <a:r>
              <a:rPr lang="en-US" sz="3600" b="1" dirty="0">
                <a:solidFill>
                  <a:srgbClr val="FFFFFF"/>
                </a:solidFill>
                <a:latin typeface="Cambria" pitchFamily="34" charset="0"/>
                <a:ea typeface="Cambria" pitchFamily="34" charset="-122"/>
                <a:cs typeface="Cambria" pitchFamily="34" charset="-120"/>
              </a:rPr>
              <a:t>Functions</a:t>
            </a:r>
            <a:endParaRPr lang="en-US" sz="3600" dirty="0"/>
          </a:p>
        </p:txBody>
      </p:sp>
      <p:sp>
        <p:nvSpPr>
          <p:cNvPr id="6" name="Text 4"/>
          <p:cNvSpPr/>
          <p:nvPr/>
        </p:nvSpPr>
        <p:spPr>
          <a:xfrm>
            <a:off x="1097280" y="3246120"/>
            <a:ext cx="7315200" cy="365760"/>
          </a:xfrm>
          <a:prstGeom prst="rect">
            <a:avLst/>
          </a:prstGeom>
          <a:noFill/>
          <a:ln/>
        </p:spPr>
        <p:txBody>
          <a:bodyPr wrap="square" lIns="0" tIns="0" rIns="0" bIns="0" rtlCol="0" anchor="ctr"/>
          <a:lstStyle/>
          <a:p>
            <a:pPr indent="0" marL="0">
              <a:buNone/>
            </a:pPr>
            <a:r>
              <a:rPr lang="en-US" sz="1600" dirty="0">
                <a:solidFill>
                  <a:srgbClr val="94D2BD"/>
                </a:solidFill>
                <a:latin typeface="Calibri" pitchFamily="34" charset="0"/>
                <a:ea typeface="Calibri" pitchFamily="34" charset="-122"/>
                <a:cs typeface="Calibri" pitchFamily="34" charset="-120"/>
              </a:rPr>
              <a:t>Packaging code so you can reuse it</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3EE"/>
        </a:solidFill>
      </p:bgPr>
    </p:bg>
    <p:spTree>
      <p:nvGrpSpPr>
        <p:cNvPr id="1" name=""/>
        <p:cNvGrpSpPr/>
        <p:nvPr/>
      </p:nvGrpSpPr>
      <p:grpSpPr>
        <a:xfrm>
          <a:off x="0" y="0"/>
          <a:ext cx="0" cy="0"/>
          <a:chOff x="0" y="0"/>
          <a:chExt cx="0" cy="0"/>
        </a:xfrm>
      </p:grpSpPr>
      <p:sp>
        <p:nvSpPr>
          <p:cNvPr id="2" name="Shape 0"/>
          <p:cNvSpPr/>
          <p:nvPr/>
        </p:nvSpPr>
        <p:spPr>
          <a:xfrm>
            <a:off x="457200" y="228600"/>
            <a:ext cx="1645920" cy="256032"/>
          </a:xfrm>
          <a:prstGeom prst="roundRect">
            <a:avLst>
              <a:gd name="adj" fmla="val 50000"/>
            </a:avLst>
          </a:prstGeom>
          <a:solidFill>
            <a:srgbClr val="0A9396"/>
          </a:solidFill>
          <a:ln w="12700">
            <a:solidFill>
              <a:srgbClr val="0A9396"/>
            </a:solidFill>
            <a:prstDash val="solid"/>
          </a:ln>
        </p:spPr>
      </p:sp>
      <p:sp>
        <p:nvSpPr>
          <p:cNvPr id="3" name="Text 1"/>
          <p:cNvSpPr/>
          <p:nvPr/>
        </p:nvSpPr>
        <p:spPr>
          <a:xfrm>
            <a:off x="457200" y="228600"/>
            <a:ext cx="1645920" cy="256032"/>
          </a:xfrm>
          <a:prstGeom prst="rect">
            <a:avLst/>
          </a:prstGeom>
          <a:noFill/>
          <a:ln/>
        </p:spPr>
        <p:txBody>
          <a:bodyPr wrap="square" lIns="0" tIns="0" rIns="0" bIns="0" rtlCol="0" anchor="ctr"/>
          <a:lstStyle/>
          <a:p>
            <a:pPr algn="ctr" indent="0" marL="0">
              <a:buNone/>
            </a:pPr>
            <a:r>
              <a:rPr lang="en-US" sz="1000" b="1" spc="100" kern="0" dirty="0">
                <a:solidFill>
                  <a:srgbClr val="FFFFFF"/>
                </a:solidFill>
              </a:rPr>
              <a:t>05  FUNCTIONS</a:t>
            </a:r>
            <a:endParaRPr lang="en-US" sz="1000" dirty="0"/>
          </a:p>
        </p:txBody>
      </p:sp>
      <p:sp>
        <p:nvSpPr>
          <p:cNvPr id="4" name="Text 2"/>
          <p:cNvSpPr/>
          <p:nvPr/>
        </p:nvSpPr>
        <p:spPr>
          <a:xfrm>
            <a:off x="457200" y="594360"/>
            <a:ext cx="8229600" cy="502920"/>
          </a:xfrm>
          <a:prstGeom prst="rect">
            <a:avLst/>
          </a:prstGeom>
          <a:noFill/>
          <a:ln/>
        </p:spPr>
        <p:txBody>
          <a:bodyPr wrap="square" lIns="0" tIns="0" rIns="0" bIns="0" rtlCol="0" anchor="ctr"/>
          <a:lstStyle/>
          <a:p>
            <a:pPr indent="0" marL="0">
              <a:buNone/>
            </a:pPr>
            <a:r>
              <a:rPr lang="en-US" sz="2600" b="1" dirty="0">
                <a:solidFill>
                  <a:srgbClr val="0D1B2A"/>
                </a:solidFill>
                <a:latin typeface="Cambria" pitchFamily="34" charset="0"/>
                <a:ea typeface="Cambria" pitchFamily="34" charset="-122"/>
                <a:cs typeface="Cambria" pitchFamily="34" charset="-120"/>
              </a:rPr>
              <a:t>Define once, call many times</a:t>
            </a:r>
            <a:endParaRPr lang="en-US" sz="2600" dirty="0"/>
          </a:p>
        </p:txBody>
      </p:sp>
      <p:sp>
        <p:nvSpPr>
          <p:cNvPr id="5" name="Shape 3"/>
          <p:cNvSpPr/>
          <p:nvPr/>
        </p:nvSpPr>
        <p:spPr>
          <a:xfrm>
            <a:off x="457200" y="1170432"/>
            <a:ext cx="8321040" cy="3200400"/>
          </a:xfrm>
          <a:prstGeom prst="roundRect">
            <a:avLst>
              <a:gd name="adj" fmla="val 2286"/>
            </a:avLst>
          </a:prstGeom>
          <a:solidFill>
            <a:srgbClr val="1E2D3D"/>
          </a:solidFill>
          <a:ln w="12700">
            <a:solidFill>
              <a:srgbClr val="0A9396"/>
            </a:solidFill>
            <a:prstDash val="solid"/>
          </a:ln>
          <a:effectLst>
            <a:outerShdw sx="100000" sy="100000" kx="0" ky="0" algn="bl" rotWithShape="0" blurRad="101600" dist="38100" dir="2700000">
              <a:srgbClr val="000000">
                <a:alpha val="20000"/>
              </a:srgbClr>
            </a:outerShdw>
          </a:effectLst>
        </p:spPr>
      </p:sp>
      <p:sp>
        <p:nvSpPr>
          <p:cNvPr id="6" name="Shape 4"/>
          <p:cNvSpPr/>
          <p:nvPr/>
        </p:nvSpPr>
        <p:spPr>
          <a:xfrm>
            <a:off x="621792" y="1289304"/>
            <a:ext cx="100584" cy="100584"/>
          </a:xfrm>
          <a:prstGeom prst="ellipse">
            <a:avLst/>
          </a:prstGeom>
          <a:solidFill>
            <a:srgbClr val="FF605C"/>
          </a:solidFill>
          <a:ln w="12700">
            <a:solidFill>
              <a:srgbClr val="FF605C"/>
            </a:solidFill>
            <a:prstDash val="solid"/>
          </a:ln>
        </p:spPr>
      </p:sp>
      <p:sp>
        <p:nvSpPr>
          <p:cNvPr id="7" name="Shape 5"/>
          <p:cNvSpPr/>
          <p:nvPr/>
        </p:nvSpPr>
        <p:spPr>
          <a:xfrm>
            <a:off x="768096" y="1289304"/>
            <a:ext cx="100584" cy="100584"/>
          </a:xfrm>
          <a:prstGeom prst="ellipse">
            <a:avLst/>
          </a:prstGeom>
          <a:solidFill>
            <a:srgbClr val="FFBD44"/>
          </a:solidFill>
          <a:ln w="12700">
            <a:solidFill>
              <a:srgbClr val="FFBD44"/>
            </a:solidFill>
            <a:prstDash val="solid"/>
          </a:ln>
        </p:spPr>
      </p:sp>
      <p:sp>
        <p:nvSpPr>
          <p:cNvPr id="8" name="Shape 6"/>
          <p:cNvSpPr/>
          <p:nvPr/>
        </p:nvSpPr>
        <p:spPr>
          <a:xfrm>
            <a:off x="914400" y="1289304"/>
            <a:ext cx="100584" cy="100584"/>
          </a:xfrm>
          <a:prstGeom prst="ellipse">
            <a:avLst/>
          </a:prstGeom>
          <a:solidFill>
            <a:srgbClr val="00CA4E"/>
          </a:solidFill>
          <a:ln w="12700">
            <a:solidFill>
              <a:srgbClr val="00CA4E"/>
            </a:solidFill>
            <a:prstDash val="solid"/>
          </a:ln>
        </p:spPr>
      </p:sp>
      <p:sp>
        <p:nvSpPr>
          <p:cNvPr id="9" name="Text 7"/>
          <p:cNvSpPr/>
          <p:nvPr/>
        </p:nvSpPr>
        <p:spPr>
          <a:xfrm>
            <a:off x="585216" y="1463040"/>
            <a:ext cx="8065008" cy="2798064"/>
          </a:xfrm>
          <a:prstGeom prst="rect">
            <a:avLst/>
          </a:prstGeom>
          <a:noFill/>
          <a:ln/>
        </p:spPr>
        <p:txBody>
          <a:bodyPr wrap="square" rtlCol="0" anchor="t"/>
          <a:lstStyle/>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def calculate_total_shots(shots_per_circuit, number_of_circuits):</a:t>
            </a: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    total = shots_per_circuit * number_of_circuits</a:t>
            </a: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    return total</a:t>
            </a:r>
            <a:endParaRPr lang="en-US" sz="1250" dirty="0"/>
          </a:p>
          <a:p>
            <a:pPr indent="0" marL="0">
              <a:spcAft>
                <a:spcPts val="100"/>
              </a:spcAft>
              <a:buNone/>
            </a:pPr>
            <a:endParaRPr lang="en-US" sz="1250" dirty="0"/>
          </a:p>
          <a:p>
            <a:pPr indent="0" marL="0">
              <a:spcAft>
                <a:spcPts val="100"/>
              </a:spcAft>
              <a:buNone/>
            </a:pP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result = calculate_total_shots(1024, 4)</a:t>
            </a: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print(result)           # 4096</a:t>
            </a:r>
            <a:endParaRPr lang="en-US" sz="1250" dirty="0"/>
          </a:p>
          <a:p>
            <a:pPr indent="0" marL="0">
              <a:spcAft>
                <a:spcPts val="100"/>
              </a:spcAft>
              <a:buNone/>
            </a:pP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print(calculate_total_shots(512, 2))    # 1024</a:t>
            </a:r>
            <a:endParaRPr lang="en-US" sz="1250" dirty="0"/>
          </a:p>
          <a:p>
            <a:pPr indent="0" marL="0">
              <a:spcAft>
                <a:spcPts val="100"/>
              </a:spcAft>
              <a:buNone/>
            </a:pPr>
            <a:r>
              <a:rPr lang="en-US" sz="1250" dirty="0">
                <a:solidFill>
                  <a:srgbClr val="E2F0FB"/>
                </a:solidFill>
                <a:latin typeface="Courier New" pitchFamily="34" charset="0"/>
                <a:ea typeface="Courier New" pitchFamily="34" charset="-122"/>
                <a:cs typeface="Courier New" pitchFamily="34" charset="-120"/>
              </a:rPr>
              <a:t>print(calculate_total_shots(2048, 10))  # 20480</a:t>
            </a:r>
            <a:endParaRPr lang="en-US" sz="1250" dirty="0"/>
          </a:p>
        </p:txBody>
      </p:sp>
      <p:sp>
        <p:nvSpPr>
          <p:cNvPr id="10" name="Shape 8"/>
          <p:cNvSpPr/>
          <p:nvPr/>
        </p:nvSpPr>
        <p:spPr>
          <a:xfrm>
            <a:off x="8229600" y="1636776"/>
            <a:ext cx="502920" cy="0"/>
          </a:xfrm>
          <a:prstGeom prst="line">
            <a:avLst/>
          </a:prstGeom>
          <a:noFill/>
          <a:ln w="12700">
            <a:solidFill>
              <a:srgbClr val="0A9396"/>
            </a:solidFill>
            <a:prstDash val="dash"/>
          </a:ln>
        </p:spPr>
      </p:sp>
      <p:sp>
        <p:nvSpPr>
          <p:cNvPr id="11" name="Shape 9"/>
          <p:cNvSpPr/>
          <p:nvPr/>
        </p:nvSpPr>
        <p:spPr>
          <a:xfrm>
            <a:off x="8229600" y="2075688"/>
            <a:ext cx="502920" cy="0"/>
          </a:xfrm>
          <a:prstGeom prst="line">
            <a:avLst/>
          </a:prstGeom>
          <a:noFill/>
          <a:ln w="12700">
            <a:solidFill>
              <a:srgbClr val="0A9396"/>
            </a:solidFill>
            <a:prstDash val="dash"/>
          </a:ln>
        </p:spPr>
      </p:sp>
      <p:sp>
        <p:nvSpPr>
          <p:cNvPr id="12" name="Shape 10"/>
          <p:cNvSpPr/>
          <p:nvPr/>
        </p:nvSpPr>
        <p:spPr>
          <a:xfrm>
            <a:off x="8229600" y="2514600"/>
            <a:ext cx="502920" cy="0"/>
          </a:xfrm>
          <a:prstGeom prst="line">
            <a:avLst/>
          </a:prstGeom>
          <a:noFill/>
          <a:ln w="12700">
            <a:solidFill>
              <a:srgbClr val="0A9396"/>
            </a:solidFill>
            <a:prstDash val="dash"/>
          </a:ln>
        </p:spPr>
      </p:sp>
      <p:sp>
        <p:nvSpPr>
          <p:cNvPr id="13" name="Shape 11"/>
          <p:cNvSpPr/>
          <p:nvPr/>
        </p:nvSpPr>
        <p:spPr>
          <a:xfrm>
            <a:off x="457200" y="4507992"/>
            <a:ext cx="8321040" cy="658368"/>
          </a:xfrm>
          <a:prstGeom prst="roundRect">
            <a:avLst>
              <a:gd name="adj" fmla="val 11111"/>
            </a:avLst>
          </a:prstGeom>
          <a:solidFill>
            <a:srgbClr val="EBF8FA"/>
          </a:solidFill>
          <a:ln w="12700">
            <a:solidFill>
              <a:srgbClr val="94D2BD"/>
            </a:solidFill>
            <a:prstDash val="solid"/>
          </a:ln>
        </p:spPr>
      </p:sp>
      <p:sp>
        <p:nvSpPr>
          <p:cNvPr id="14" name="Text 12"/>
          <p:cNvSpPr/>
          <p:nvPr/>
        </p:nvSpPr>
        <p:spPr>
          <a:xfrm>
            <a:off x="640080" y="4581144"/>
            <a:ext cx="7955280" cy="512064"/>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Once a function is defined, it can be called with any valid inputs. The function runs fresh each time and returns a new result.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9396"/>
          </a:solidFill>
          <a:ln w="12700">
            <a:solidFill>
              <a:srgbClr val="0A9396"/>
            </a:solidFill>
            <a:prstDash val="solid"/>
          </a:ln>
        </p:spPr>
      </p:sp>
      <p:sp>
        <p:nvSpPr>
          <p:cNvPr id="3" name="Shape 1"/>
          <p:cNvSpPr/>
          <p:nvPr/>
        </p:nvSpPr>
        <p:spPr>
          <a:xfrm>
            <a:off x="548640" y="2148840"/>
            <a:ext cx="384048" cy="384048"/>
          </a:xfrm>
          <a:prstGeom prst="ellipse">
            <a:avLst/>
          </a:prstGeom>
          <a:solidFill>
            <a:srgbClr val="94D2BD"/>
          </a:solidFill>
          <a:ln w="12700">
            <a:solidFill>
              <a:srgbClr val="94D2BD"/>
            </a:solidFill>
            <a:prstDash val="solid"/>
          </a:ln>
        </p:spPr>
      </p:sp>
      <p:sp>
        <p:nvSpPr>
          <p:cNvPr id="4" name="Text 2"/>
          <p:cNvSpPr/>
          <p:nvPr/>
        </p:nvSpPr>
        <p:spPr>
          <a:xfrm>
            <a:off x="548640" y="2148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5" name="Text 3"/>
          <p:cNvSpPr/>
          <p:nvPr/>
        </p:nvSpPr>
        <p:spPr>
          <a:xfrm>
            <a:off x="1097280" y="1600200"/>
            <a:ext cx="7315200" cy="19202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Why this matters</a:t>
            </a:r>
            <a:endParaRPr lang="en-US" sz="3400" dirty="0"/>
          </a:p>
          <a:p>
            <a:pPr algn="l" indent="0" marL="0">
              <a:buNone/>
            </a:pPr>
            <a:r>
              <a:rPr lang="en-US" sz="3400" b="1" dirty="0">
                <a:solidFill>
                  <a:srgbClr val="FFFFFF"/>
                </a:solidFill>
                <a:latin typeface="Cambria" pitchFamily="34" charset="0"/>
                <a:ea typeface="Cambria" pitchFamily="34" charset="-122"/>
                <a:cs typeface="Cambria" pitchFamily="34" charset="-120"/>
              </a:rPr>
              <a:t>for quantum code</a:t>
            </a:r>
            <a:endParaRPr lang="en-US" sz="3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3EE"/>
        </a:solidFill>
      </p:bgPr>
    </p:bg>
    <p:spTree>
      <p:nvGrpSpPr>
        <p:cNvPr id="1" name=""/>
        <p:cNvGrpSpPr/>
        <p:nvPr/>
      </p:nvGrpSpPr>
      <p:grpSpPr>
        <a:xfrm>
          <a:off x="0" y="0"/>
          <a:ext cx="0" cy="0"/>
          <a:chOff x="0" y="0"/>
          <a:chExt cx="0" cy="0"/>
        </a:xfrm>
      </p:grpSpPr>
      <p:sp>
        <p:nvSpPr>
          <p:cNvPr id="2" name="Shape 0"/>
          <p:cNvSpPr/>
          <p:nvPr/>
        </p:nvSpPr>
        <p:spPr>
          <a:xfrm>
            <a:off x="457200" y="228600"/>
            <a:ext cx="1645920" cy="256032"/>
          </a:xfrm>
          <a:prstGeom prst="roundRect">
            <a:avLst>
              <a:gd name="adj" fmla="val 50000"/>
            </a:avLst>
          </a:prstGeom>
          <a:solidFill>
            <a:srgbClr val="0A9396"/>
          </a:solidFill>
          <a:ln w="12700">
            <a:solidFill>
              <a:srgbClr val="0A9396"/>
            </a:solidFill>
            <a:prstDash val="solid"/>
          </a:ln>
        </p:spPr>
      </p:sp>
      <p:sp>
        <p:nvSpPr>
          <p:cNvPr id="3" name="Text 1"/>
          <p:cNvSpPr/>
          <p:nvPr/>
        </p:nvSpPr>
        <p:spPr>
          <a:xfrm>
            <a:off x="457200" y="228600"/>
            <a:ext cx="1645920" cy="256032"/>
          </a:xfrm>
          <a:prstGeom prst="rect">
            <a:avLst/>
          </a:prstGeom>
          <a:noFill/>
          <a:ln/>
        </p:spPr>
        <p:txBody>
          <a:bodyPr wrap="square" lIns="0" tIns="0" rIns="0" bIns="0" rtlCol="0" anchor="ctr"/>
          <a:lstStyle/>
          <a:p>
            <a:pPr algn="ctr" indent="0" marL="0">
              <a:buNone/>
            </a:pPr>
            <a:r>
              <a:rPr lang="en-US" sz="1000" b="1" spc="100" kern="0" dirty="0">
                <a:solidFill>
                  <a:srgbClr val="FFFFFF"/>
                </a:solidFill>
              </a:rPr>
              <a:t>06  THE BRIDGE</a:t>
            </a:r>
            <a:endParaRPr lang="en-US" sz="1000" dirty="0"/>
          </a:p>
        </p:txBody>
      </p:sp>
      <p:sp>
        <p:nvSpPr>
          <p:cNvPr id="4" name="Text 2"/>
          <p:cNvSpPr/>
          <p:nvPr/>
        </p:nvSpPr>
        <p:spPr>
          <a:xfrm>
            <a:off x="457200" y="594360"/>
            <a:ext cx="8229600" cy="502920"/>
          </a:xfrm>
          <a:prstGeom prst="rect">
            <a:avLst/>
          </a:prstGeom>
          <a:noFill/>
          <a:ln/>
        </p:spPr>
        <p:txBody>
          <a:bodyPr wrap="square" lIns="0" tIns="0" rIns="0" bIns="0" rtlCol="0" anchor="ctr"/>
          <a:lstStyle/>
          <a:p>
            <a:pPr indent="0" marL="0">
              <a:buNone/>
            </a:pPr>
            <a:r>
              <a:rPr lang="en-US" sz="2600" b="1" dirty="0">
                <a:solidFill>
                  <a:srgbClr val="0D1B2A"/>
                </a:solidFill>
                <a:latin typeface="Cambria" pitchFamily="34" charset="0"/>
                <a:ea typeface="Cambria" pitchFamily="34" charset="-122"/>
                <a:cs typeface="Cambria" pitchFamily="34" charset="-120"/>
              </a:rPr>
              <a:t>Everything we learned, in disguise</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321040" cy="914400"/>
        </p:xfrm>
        <a:graphic>
          <a:graphicData uri="http://schemas.openxmlformats.org/drawingml/2006/table">
            <a:tbl>
              <a:tblPr/>
              <a:tblGrid>
                <a:gridCol w="1828800"/>
                <a:gridCol w="3200400"/>
                <a:gridCol w="3200400"/>
              </a:tblGrid>
              <a:tr h="50292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Python concept</a:t>
                      </a:r>
                      <a:endParaRPr lang="en-US" sz="1200" dirty="0">
                        <a:latin typeface="Calibri" charset="0"/>
                        <a:ea typeface="Calibri" charset="0"/>
                        <a:cs typeface="Calibri" charset="0"/>
                      </a:endParaRPr>
                    </a:p>
                  </a:txBody>
                  <a:tcPr marL="109728" marR="109728" marT="0" marB="0" anchor="ctr">
                    <a:lnL w="6350" cap="flat" cmpd="sng" algn="ctr">
                      <a:solidFill>
                        <a:srgbClr val="CADCDE"/>
                      </a:solidFill>
                      <a:prstDash val="solid"/>
                      <a:round/>
                      <a:headEnd type="none" w="med" len="med"/>
                      <a:tailEnd type="none" w="med" len="med"/>
                    </a:lnL>
                    <a:lnR w="6350" cap="flat" cmpd="sng" algn="ctr">
                      <a:solidFill>
                        <a:srgbClr val="CADCDE"/>
                      </a:solidFill>
                      <a:prstDash val="solid"/>
                      <a:round/>
                      <a:headEnd type="none" w="med" len="med"/>
                      <a:tailEnd type="none" w="med" len="med"/>
                    </a:lnR>
                    <a:lnT w="6350" cap="flat" cmpd="sng" algn="ctr">
                      <a:solidFill>
                        <a:srgbClr val="CADCDE"/>
                      </a:solidFill>
                      <a:prstDash val="solid"/>
                      <a:round/>
                      <a:headEnd type="none" w="med" len="med"/>
                      <a:tailEnd type="none" w="med" len="med"/>
                    </a:lnT>
                    <a:lnB w="6350" cap="flat" cmpd="sng" algn="ctr">
                      <a:solidFill>
                        <a:srgbClr val="CADCDE"/>
                      </a:solidFill>
                      <a:prstDash val="solid"/>
                      <a:round/>
                      <a:headEnd type="none" w="med" len="med"/>
                      <a:tailEnd type="none" w="med" len="med"/>
                    </a:lnB>
                    <a:solidFill>
                      <a:srgbClr val="0D1B2A"/>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Reappears in quantum code as</a:t>
                      </a:r>
                      <a:endParaRPr lang="en-US" sz="1200" dirty="0">
                        <a:latin typeface="Calibri" charset="0"/>
                        <a:ea typeface="Calibri" charset="0"/>
                        <a:cs typeface="Calibri" charset="0"/>
                      </a:endParaRPr>
                    </a:p>
                  </a:txBody>
                  <a:tcPr marL="109728" marR="109728" marT="0" marB="0" anchor="ctr">
                    <a:lnL w="6350" cap="flat" cmpd="sng" algn="ctr">
                      <a:solidFill>
                        <a:srgbClr val="CADCDE"/>
                      </a:solidFill>
                      <a:prstDash val="solid"/>
                      <a:round/>
                      <a:headEnd type="none" w="med" len="med"/>
                      <a:tailEnd type="none" w="med" len="med"/>
                    </a:lnL>
                    <a:lnR w="6350" cap="flat" cmpd="sng" algn="ctr">
                      <a:solidFill>
                        <a:srgbClr val="CADCDE"/>
                      </a:solidFill>
                      <a:prstDash val="solid"/>
                      <a:round/>
                      <a:headEnd type="none" w="med" len="med"/>
                      <a:tailEnd type="none" w="med" len="med"/>
                    </a:lnR>
                    <a:lnT w="6350" cap="flat" cmpd="sng" algn="ctr">
                      <a:solidFill>
                        <a:srgbClr val="CADCDE"/>
                      </a:solidFill>
                      <a:prstDash val="solid"/>
                      <a:round/>
                      <a:headEnd type="none" w="med" len="med"/>
                      <a:tailEnd type="none" w="med" len="med"/>
                    </a:lnT>
                    <a:lnB w="6350" cap="flat" cmpd="sng" algn="ctr">
                      <a:solidFill>
                        <a:srgbClr val="CADCDE"/>
                      </a:solidFill>
                      <a:prstDash val="solid"/>
                      <a:round/>
                      <a:headEnd type="none" w="med" len="med"/>
                      <a:tailEnd type="none" w="med" len="med"/>
                    </a:lnB>
                    <a:solidFill>
                      <a:srgbClr val="0D1B2A"/>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Example</a:t>
                      </a:r>
                      <a:endParaRPr lang="en-US" sz="1200" dirty="0">
                        <a:latin typeface="Calibri" charset="0"/>
                        <a:ea typeface="Calibri" charset="0"/>
                        <a:cs typeface="Calibri" charset="0"/>
                      </a:endParaRPr>
                    </a:p>
                  </a:txBody>
                  <a:tcPr marL="109728" marR="109728" marT="0" marB="0" anchor="ctr">
                    <a:lnL w="6350" cap="flat" cmpd="sng" algn="ctr">
                      <a:solidFill>
                        <a:srgbClr val="CADCDE"/>
                      </a:solidFill>
                      <a:prstDash val="solid"/>
                      <a:round/>
                      <a:headEnd type="none" w="med" len="med"/>
                      <a:tailEnd type="none" w="med" len="med"/>
                    </a:lnL>
                    <a:lnR w="6350" cap="flat" cmpd="sng" algn="ctr">
                      <a:solidFill>
                        <a:srgbClr val="CADCDE"/>
                      </a:solidFill>
                      <a:prstDash val="solid"/>
                      <a:round/>
                      <a:headEnd type="none" w="med" len="med"/>
                      <a:tailEnd type="none" w="med" len="med"/>
                    </a:lnR>
                    <a:lnT w="6350" cap="flat" cmpd="sng" algn="ctr">
                      <a:solidFill>
                        <a:srgbClr val="CADCDE"/>
                      </a:solidFill>
                      <a:prstDash val="solid"/>
                      <a:round/>
                      <a:headEnd type="none" w="med" len="med"/>
                      <a:tailEnd type="none" w="med" len="med"/>
                    </a:lnT>
                    <a:lnB w="6350" cap="flat" cmpd="sng" algn="ctr">
                      <a:solidFill>
                        <a:srgbClr val="CADCDE"/>
                      </a:solidFill>
                      <a:prstDash val="solid"/>
                      <a:round/>
                      <a:headEnd type="none" w="med" len="med"/>
                      <a:tailEnd type="none" w="med" len="med"/>
                    </a:lnB>
                    <a:solidFill>
                      <a:srgbClr val="0D1B2A"/>
                    </a:solidFill>
                  </a:tcPr>
                </a:tc>
              </a:tr>
              <a:tr h="502920">
                <a:tc>
                  <a:txBody>
                    <a:bodyPr/>
                    <a:lstStyle/>
                    <a:p>
                      <a:pPr algn="l" indent="0" marL="0">
                        <a:buNone/>
                      </a:pPr>
                      <a:r>
                        <a:rPr lang="en-US" sz="1100" dirty="0">
                          <a:solidFill>
                            <a:srgbClr val="0A9396"/>
                          </a:solidFill>
                          <a:latin typeface="Calibri" pitchFamily="34" charset="0"/>
                          <a:ea typeface="Calibri" pitchFamily="34" charset="-122"/>
                          <a:cs typeface="Calibri" pitchFamily="34" charset="-120"/>
                        </a:rPr>
                        <a:t>Variable</a:t>
                      </a:r>
                      <a:endParaRPr lang="en-US" sz="1100" dirty="0">
                        <a:latin typeface="Calibri" charset="0"/>
                        <a:ea typeface="Calibri" charset="0"/>
                        <a:cs typeface="Calibri" charset="0"/>
                      </a:endParaRPr>
                    </a:p>
                  </a:txBody>
                  <a:tcPr marL="109728" marR="109728" marT="0" marB="0" anchor="ctr">
                    <a:lnL w="6350" cap="flat" cmpd="sng" algn="ctr">
                      <a:solidFill>
                        <a:srgbClr val="CADCDE"/>
                      </a:solidFill>
                      <a:prstDash val="solid"/>
                      <a:round/>
                      <a:headEnd type="none" w="med" len="med"/>
                      <a:tailEnd type="none" w="med" len="med"/>
                    </a:lnL>
                    <a:lnR w="6350" cap="flat" cmpd="sng" algn="ctr">
                      <a:solidFill>
                        <a:srgbClr val="CADCDE"/>
                      </a:solidFill>
                      <a:prstDash val="solid"/>
                      <a:round/>
                      <a:headEnd type="none" w="med" len="med"/>
                      <a:tailEnd type="none" w="med" len="med"/>
                    </a:lnR>
                    <a:lnT w="6350" cap="flat" cmpd="sng" algn="ctr">
                      <a:solidFill>
                        <a:srgbClr val="CADCDE"/>
                      </a:solidFill>
                      <a:prstDash val="solid"/>
                      <a:round/>
                      <a:headEnd type="none" w="med" len="med"/>
                      <a:tailEnd type="none" w="med" len="med"/>
                    </a:lnT>
                    <a:lnB w="6350" cap="flat" cmpd="sng" algn="ctr">
                      <a:solidFill>
                        <a:srgbClr val="CADCD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2E"/>
                          </a:solidFill>
                          <a:latin typeface="Calibri" pitchFamily="34" charset="0"/>
                          <a:ea typeface="Calibri" pitchFamily="34" charset="-122"/>
                          <a:cs typeface="Calibri" pitchFamily="34" charset="-120"/>
                        </a:rPr>
                        <a:t>A qubit state stored by name</a:t>
                      </a:r>
                      <a:endParaRPr lang="en-US" sz="1100" dirty="0">
                        <a:latin typeface="Calibri" charset="0"/>
                        <a:ea typeface="Calibri" charset="0"/>
                        <a:cs typeface="Calibri" charset="0"/>
                      </a:endParaRPr>
                    </a:p>
                  </a:txBody>
                  <a:tcPr marL="109728" marR="109728" marT="0" marB="0" anchor="ctr">
                    <a:lnL w="6350" cap="flat" cmpd="sng" algn="ctr">
                      <a:solidFill>
                        <a:srgbClr val="CADCDE"/>
                      </a:solidFill>
                      <a:prstDash val="solid"/>
                      <a:round/>
                      <a:headEnd type="none" w="med" len="med"/>
                      <a:tailEnd type="none" w="med" len="med"/>
                    </a:lnL>
                    <a:lnR w="6350" cap="flat" cmpd="sng" algn="ctr">
                      <a:solidFill>
                        <a:srgbClr val="CADCDE"/>
                      </a:solidFill>
                      <a:prstDash val="solid"/>
                      <a:round/>
                      <a:headEnd type="none" w="med" len="med"/>
                      <a:tailEnd type="none" w="med" len="med"/>
                    </a:lnR>
                    <a:lnT w="6350" cap="flat" cmpd="sng" algn="ctr">
                      <a:solidFill>
                        <a:srgbClr val="CADCDE"/>
                      </a:solidFill>
                      <a:prstDash val="solid"/>
                      <a:round/>
                      <a:headEnd type="none" w="med" len="med"/>
                      <a:tailEnd type="none" w="med" len="med"/>
                    </a:lnT>
                    <a:lnB w="6350" cap="flat" cmpd="sng" algn="ctr">
                      <a:solidFill>
                        <a:srgbClr val="CADCD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2E"/>
                          </a:solidFill>
                          <a:latin typeface="Courier New" pitchFamily="34" charset="0"/>
                          <a:ea typeface="Courier New" pitchFamily="34" charset="-122"/>
                          <a:cs typeface="Courier New" pitchFamily="34" charset="-120"/>
                        </a:rPr>
                        <a:t>q = QuantumRegister(1)</a:t>
                      </a:r>
                      <a:endParaRPr lang="en-US" sz="1100" dirty="0">
                        <a:latin typeface="Courier New" charset="0"/>
                        <a:ea typeface="Courier New" charset="0"/>
                        <a:cs typeface="Courier New" charset="0"/>
                      </a:endParaRPr>
                    </a:p>
                  </a:txBody>
                  <a:tcPr marL="109728" marR="109728" marT="0" marB="0" anchor="ctr">
                    <a:lnL w="6350" cap="flat" cmpd="sng" algn="ctr">
                      <a:solidFill>
                        <a:srgbClr val="CADCDE"/>
                      </a:solidFill>
                      <a:prstDash val="solid"/>
                      <a:round/>
                      <a:headEnd type="none" w="med" len="med"/>
                      <a:tailEnd type="none" w="med" len="med"/>
                    </a:lnL>
                    <a:lnR w="6350" cap="flat" cmpd="sng" algn="ctr">
                      <a:solidFill>
                        <a:srgbClr val="CADCDE"/>
                      </a:solidFill>
                      <a:prstDash val="solid"/>
                      <a:round/>
                      <a:headEnd type="none" w="med" len="med"/>
                      <a:tailEnd type="none" w="med" len="med"/>
                    </a:lnR>
                    <a:lnT w="6350" cap="flat" cmpd="sng" algn="ctr">
                      <a:solidFill>
                        <a:srgbClr val="CADCDE"/>
                      </a:solidFill>
                      <a:prstDash val="solid"/>
                      <a:round/>
                      <a:headEnd type="none" w="med" len="med"/>
                      <a:tailEnd type="none" w="med" len="med"/>
                    </a:lnT>
                    <a:lnB w="6350" cap="flat" cmpd="sng" algn="ctr">
                      <a:solidFill>
                        <a:srgbClr val="CADCDE"/>
                      </a:solidFill>
                      <a:prstDash val="solid"/>
                      <a:round/>
                      <a:headEnd type="none" w="med" len="med"/>
                      <a:tailEnd type="none" w="med" len="med"/>
                    </a:lnB>
                    <a:solidFill>
                      <a:srgbClr val="FFFFFF"/>
                    </a:solidFill>
                  </a:tcPr>
                </a:tc>
              </a:tr>
              <a:tr h="502920">
                <a:tc>
                  <a:txBody>
                    <a:bodyPr/>
                    <a:lstStyle/>
                    <a:p>
                      <a:pPr algn="l" indent="0" marL="0">
                        <a:buNone/>
                      </a:pPr>
                      <a:r>
                        <a:rPr lang="en-US" sz="1100" dirty="0">
                          <a:solidFill>
                            <a:srgbClr val="0A9396"/>
                          </a:solidFill>
                          <a:latin typeface="Calibri" pitchFamily="34" charset="0"/>
                          <a:ea typeface="Calibri" pitchFamily="34" charset="-122"/>
                          <a:cs typeface="Calibri" pitchFamily="34" charset="-120"/>
                        </a:rPr>
                        <a:t>List</a:t>
                      </a:r>
                      <a:endParaRPr lang="en-US" sz="1100" dirty="0">
                        <a:latin typeface="Calibri" charset="0"/>
                        <a:ea typeface="Calibri" charset="0"/>
                        <a:cs typeface="Calibri" charset="0"/>
                      </a:endParaRPr>
                    </a:p>
                  </a:txBody>
                  <a:tcPr marL="109728" marR="109728" marT="0" marB="0" anchor="ctr">
                    <a:lnL w="6350" cap="flat" cmpd="sng" algn="ctr">
                      <a:solidFill>
                        <a:srgbClr val="CADCDE"/>
                      </a:solidFill>
                      <a:prstDash val="solid"/>
                      <a:round/>
                      <a:headEnd type="none" w="med" len="med"/>
                      <a:tailEnd type="none" w="med" len="med"/>
                    </a:lnL>
                    <a:lnR w="6350" cap="flat" cmpd="sng" algn="ctr">
                      <a:solidFill>
                        <a:srgbClr val="CADCDE"/>
                      </a:solidFill>
                      <a:prstDash val="solid"/>
                      <a:round/>
                      <a:headEnd type="none" w="med" len="med"/>
                      <a:tailEnd type="none" w="med" len="med"/>
                    </a:lnR>
                    <a:lnT w="6350" cap="flat" cmpd="sng" algn="ctr">
                      <a:solidFill>
                        <a:srgbClr val="CADCDE"/>
                      </a:solidFill>
                      <a:prstDash val="solid"/>
                      <a:round/>
                      <a:headEnd type="none" w="med" len="med"/>
                      <a:tailEnd type="none" w="med" len="med"/>
                    </a:lnT>
                    <a:lnB w="6350" cap="flat" cmpd="sng" algn="ctr">
                      <a:solidFill>
                        <a:srgbClr val="CADCDE"/>
                      </a:solidFill>
                      <a:prstDash val="solid"/>
                      <a:round/>
                      <a:headEnd type="none" w="med" len="med"/>
                      <a:tailEnd type="none" w="med" len="med"/>
                    </a:lnB>
                    <a:solidFill>
                      <a:srgbClr val="F0FAFB"/>
                    </a:solidFill>
                  </a:tcPr>
                </a:tc>
                <a:tc>
                  <a:txBody>
                    <a:bodyPr/>
                    <a:lstStyle/>
                    <a:p>
                      <a:pPr algn="l" indent="0" marL="0">
                        <a:buNone/>
                      </a:pPr>
                      <a:r>
                        <a:rPr lang="en-US" sz="1100" dirty="0">
                          <a:solidFill>
                            <a:srgbClr val="1A1A2E"/>
                          </a:solidFill>
                          <a:latin typeface="Calibri" pitchFamily="34" charset="0"/>
                          <a:ea typeface="Calibri" pitchFamily="34" charset="-122"/>
                          <a:cs typeface="Calibri" pitchFamily="34" charset="-120"/>
                        </a:rPr>
                        <a:t>A register of qubits</a:t>
                      </a:r>
                      <a:endParaRPr lang="en-US" sz="1100" dirty="0">
                        <a:latin typeface="Calibri" charset="0"/>
                        <a:ea typeface="Calibri" charset="0"/>
                        <a:cs typeface="Calibri" charset="0"/>
                      </a:endParaRPr>
                    </a:p>
                  </a:txBody>
                  <a:tcPr marL="109728" marR="109728" marT="0" marB="0" anchor="ctr">
                    <a:lnL w="6350" cap="flat" cmpd="sng" algn="ctr">
                      <a:solidFill>
                        <a:srgbClr val="CADCDE"/>
                      </a:solidFill>
                      <a:prstDash val="solid"/>
                      <a:round/>
                      <a:headEnd type="none" w="med" len="med"/>
                      <a:tailEnd type="none" w="med" len="med"/>
                    </a:lnL>
                    <a:lnR w="6350" cap="flat" cmpd="sng" algn="ctr">
                      <a:solidFill>
                        <a:srgbClr val="CADCDE"/>
                      </a:solidFill>
                      <a:prstDash val="solid"/>
                      <a:round/>
                      <a:headEnd type="none" w="med" len="med"/>
                      <a:tailEnd type="none" w="med" len="med"/>
                    </a:lnR>
                    <a:lnT w="6350" cap="flat" cmpd="sng" algn="ctr">
                      <a:solidFill>
                        <a:srgbClr val="CADCDE"/>
                      </a:solidFill>
                      <a:prstDash val="solid"/>
                      <a:round/>
                      <a:headEnd type="none" w="med" len="med"/>
                      <a:tailEnd type="none" w="med" len="med"/>
                    </a:lnT>
                    <a:lnB w="6350" cap="flat" cmpd="sng" algn="ctr">
                      <a:solidFill>
                        <a:srgbClr val="CADCDE"/>
                      </a:solidFill>
                      <a:prstDash val="solid"/>
                      <a:round/>
                      <a:headEnd type="none" w="med" len="med"/>
                      <a:tailEnd type="none" w="med" len="med"/>
                    </a:lnB>
                    <a:solidFill>
                      <a:srgbClr val="F0FAFB"/>
                    </a:solidFill>
                  </a:tcPr>
                </a:tc>
                <a:tc>
                  <a:txBody>
                    <a:bodyPr/>
                    <a:lstStyle/>
                    <a:p>
                      <a:pPr algn="l" indent="0" marL="0">
                        <a:buNone/>
                      </a:pPr>
                      <a:r>
                        <a:rPr lang="en-US" sz="1100" dirty="0">
                          <a:solidFill>
                            <a:srgbClr val="1A1A2E"/>
                          </a:solidFill>
                          <a:latin typeface="Courier New" pitchFamily="34" charset="0"/>
                          <a:ea typeface="Courier New" pitchFamily="34" charset="-122"/>
                          <a:cs typeface="Courier New" pitchFamily="34" charset="-120"/>
                        </a:rPr>
                        <a:t>qr = QuantumRegister(3)</a:t>
                      </a:r>
                      <a:endParaRPr lang="en-US" sz="1100" dirty="0">
                        <a:latin typeface="Courier New" charset="0"/>
                        <a:ea typeface="Courier New" charset="0"/>
                        <a:cs typeface="Courier New" charset="0"/>
                      </a:endParaRPr>
                    </a:p>
                  </a:txBody>
                  <a:tcPr marL="109728" marR="109728" marT="0" marB="0" anchor="ctr">
                    <a:lnL w="6350" cap="flat" cmpd="sng" algn="ctr">
                      <a:solidFill>
                        <a:srgbClr val="CADCDE"/>
                      </a:solidFill>
                      <a:prstDash val="solid"/>
                      <a:round/>
                      <a:headEnd type="none" w="med" len="med"/>
                      <a:tailEnd type="none" w="med" len="med"/>
                    </a:lnL>
                    <a:lnR w="6350" cap="flat" cmpd="sng" algn="ctr">
                      <a:solidFill>
                        <a:srgbClr val="CADCDE"/>
                      </a:solidFill>
                      <a:prstDash val="solid"/>
                      <a:round/>
                      <a:headEnd type="none" w="med" len="med"/>
                      <a:tailEnd type="none" w="med" len="med"/>
                    </a:lnR>
                    <a:lnT w="6350" cap="flat" cmpd="sng" algn="ctr">
                      <a:solidFill>
                        <a:srgbClr val="CADCDE"/>
                      </a:solidFill>
                      <a:prstDash val="solid"/>
                      <a:round/>
                      <a:headEnd type="none" w="med" len="med"/>
                      <a:tailEnd type="none" w="med" len="med"/>
                    </a:lnT>
                    <a:lnB w="6350" cap="flat" cmpd="sng" algn="ctr">
                      <a:solidFill>
                        <a:srgbClr val="CADCDE"/>
                      </a:solidFill>
                      <a:prstDash val="solid"/>
                      <a:round/>
                      <a:headEnd type="none" w="med" len="med"/>
                      <a:tailEnd type="none" w="med" len="med"/>
                    </a:lnB>
                    <a:solidFill>
                      <a:srgbClr val="F0FAFB"/>
                    </a:solidFill>
                  </a:tcPr>
                </a:tc>
              </a:tr>
              <a:tr h="502920">
                <a:tc>
                  <a:txBody>
                    <a:bodyPr/>
                    <a:lstStyle/>
                    <a:p>
                      <a:pPr algn="l" indent="0" marL="0">
                        <a:buNone/>
                      </a:pPr>
                      <a:r>
                        <a:rPr lang="en-US" sz="1100" dirty="0">
                          <a:solidFill>
                            <a:srgbClr val="0A9396"/>
                          </a:solidFill>
                          <a:latin typeface="Calibri" pitchFamily="34" charset="0"/>
                          <a:ea typeface="Calibri" pitchFamily="34" charset="-122"/>
                          <a:cs typeface="Calibri" pitchFamily="34" charset="-120"/>
                        </a:rPr>
                        <a:t>Conditional</a:t>
                      </a:r>
                      <a:endParaRPr lang="en-US" sz="1100" dirty="0">
                        <a:latin typeface="Calibri" charset="0"/>
                        <a:ea typeface="Calibri" charset="0"/>
                        <a:cs typeface="Calibri" charset="0"/>
                      </a:endParaRPr>
                    </a:p>
                  </a:txBody>
                  <a:tcPr marL="109728" marR="109728" marT="0" marB="0" anchor="ctr">
                    <a:lnL w="6350" cap="flat" cmpd="sng" algn="ctr">
                      <a:solidFill>
                        <a:srgbClr val="CADCDE"/>
                      </a:solidFill>
                      <a:prstDash val="solid"/>
                      <a:round/>
                      <a:headEnd type="none" w="med" len="med"/>
                      <a:tailEnd type="none" w="med" len="med"/>
                    </a:lnL>
                    <a:lnR w="6350" cap="flat" cmpd="sng" algn="ctr">
                      <a:solidFill>
                        <a:srgbClr val="CADCDE"/>
                      </a:solidFill>
                      <a:prstDash val="solid"/>
                      <a:round/>
                      <a:headEnd type="none" w="med" len="med"/>
                      <a:tailEnd type="none" w="med" len="med"/>
                    </a:lnR>
                    <a:lnT w="6350" cap="flat" cmpd="sng" algn="ctr">
                      <a:solidFill>
                        <a:srgbClr val="CADCDE"/>
                      </a:solidFill>
                      <a:prstDash val="solid"/>
                      <a:round/>
                      <a:headEnd type="none" w="med" len="med"/>
                      <a:tailEnd type="none" w="med" len="med"/>
                    </a:lnT>
                    <a:lnB w="6350" cap="flat" cmpd="sng" algn="ctr">
                      <a:solidFill>
                        <a:srgbClr val="CADCD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2E"/>
                          </a:solidFill>
                          <a:latin typeface="Calibri" pitchFamily="34" charset="0"/>
                          <a:ea typeface="Calibri" pitchFamily="34" charset="-122"/>
                          <a:cs typeface="Calibri" pitchFamily="34" charset="-120"/>
                        </a:rPr>
                        <a:t>Gate selection based on measurement</a:t>
                      </a:r>
                      <a:endParaRPr lang="en-US" sz="1100" dirty="0">
                        <a:latin typeface="Calibri" charset="0"/>
                        <a:ea typeface="Calibri" charset="0"/>
                        <a:cs typeface="Calibri" charset="0"/>
                      </a:endParaRPr>
                    </a:p>
                  </a:txBody>
                  <a:tcPr marL="109728" marR="109728" marT="0" marB="0" anchor="ctr">
                    <a:lnL w="6350" cap="flat" cmpd="sng" algn="ctr">
                      <a:solidFill>
                        <a:srgbClr val="CADCDE"/>
                      </a:solidFill>
                      <a:prstDash val="solid"/>
                      <a:round/>
                      <a:headEnd type="none" w="med" len="med"/>
                      <a:tailEnd type="none" w="med" len="med"/>
                    </a:lnL>
                    <a:lnR w="6350" cap="flat" cmpd="sng" algn="ctr">
                      <a:solidFill>
                        <a:srgbClr val="CADCDE"/>
                      </a:solidFill>
                      <a:prstDash val="solid"/>
                      <a:round/>
                      <a:headEnd type="none" w="med" len="med"/>
                      <a:tailEnd type="none" w="med" len="med"/>
                    </a:lnR>
                    <a:lnT w="6350" cap="flat" cmpd="sng" algn="ctr">
                      <a:solidFill>
                        <a:srgbClr val="CADCDE"/>
                      </a:solidFill>
                      <a:prstDash val="solid"/>
                      <a:round/>
                      <a:headEnd type="none" w="med" len="med"/>
                      <a:tailEnd type="none" w="med" len="med"/>
                    </a:lnT>
                    <a:lnB w="6350" cap="flat" cmpd="sng" algn="ctr">
                      <a:solidFill>
                        <a:srgbClr val="CADCD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2E"/>
                          </a:solidFill>
                          <a:latin typeface="Courier New" pitchFamily="34" charset="0"/>
                          <a:ea typeface="Courier New" pitchFamily="34" charset="-122"/>
                          <a:cs typeface="Courier New" pitchFamily="34" charset="-120"/>
                        </a:rPr>
                        <a:t>if result == 1: apply_gate()</a:t>
                      </a:r>
                      <a:endParaRPr lang="en-US" sz="1100" dirty="0">
                        <a:latin typeface="Courier New" charset="0"/>
                        <a:ea typeface="Courier New" charset="0"/>
                        <a:cs typeface="Courier New" charset="0"/>
                      </a:endParaRPr>
                    </a:p>
                  </a:txBody>
                  <a:tcPr marL="109728" marR="109728" marT="0" marB="0" anchor="ctr">
                    <a:lnL w="6350" cap="flat" cmpd="sng" algn="ctr">
                      <a:solidFill>
                        <a:srgbClr val="CADCDE"/>
                      </a:solidFill>
                      <a:prstDash val="solid"/>
                      <a:round/>
                      <a:headEnd type="none" w="med" len="med"/>
                      <a:tailEnd type="none" w="med" len="med"/>
                    </a:lnL>
                    <a:lnR w="6350" cap="flat" cmpd="sng" algn="ctr">
                      <a:solidFill>
                        <a:srgbClr val="CADCDE"/>
                      </a:solidFill>
                      <a:prstDash val="solid"/>
                      <a:round/>
                      <a:headEnd type="none" w="med" len="med"/>
                      <a:tailEnd type="none" w="med" len="med"/>
                    </a:lnR>
                    <a:lnT w="6350" cap="flat" cmpd="sng" algn="ctr">
                      <a:solidFill>
                        <a:srgbClr val="CADCDE"/>
                      </a:solidFill>
                      <a:prstDash val="solid"/>
                      <a:round/>
                      <a:headEnd type="none" w="med" len="med"/>
                      <a:tailEnd type="none" w="med" len="med"/>
                    </a:lnT>
                    <a:lnB w="6350" cap="flat" cmpd="sng" algn="ctr">
                      <a:solidFill>
                        <a:srgbClr val="CADCDE"/>
                      </a:solidFill>
                      <a:prstDash val="solid"/>
                      <a:round/>
                      <a:headEnd type="none" w="med" len="med"/>
                      <a:tailEnd type="none" w="med" len="med"/>
                    </a:lnB>
                    <a:solidFill>
                      <a:srgbClr val="FFFFFF"/>
                    </a:solidFill>
                  </a:tcPr>
                </a:tc>
              </a:tr>
              <a:tr h="502920">
                <a:tc>
                  <a:txBody>
                    <a:bodyPr/>
                    <a:lstStyle/>
                    <a:p>
                      <a:pPr algn="l" indent="0" marL="0">
                        <a:buNone/>
                      </a:pPr>
                      <a:r>
                        <a:rPr lang="en-US" sz="1100" dirty="0">
                          <a:solidFill>
                            <a:srgbClr val="0A9396"/>
                          </a:solidFill>
                          <a:latin typeface="Calibri" pitchFamily="34" charset="0"/>
                          <a:ea typeface="Calibri" pitchFamily="34" charset="-122"/>
                          <a:cs typeface="Calibri" pitchFamily="34" charset="-120"/>
                        </a:rPr>
                        <a:t>Loop</a:t>
                      </a:r>
                      <a:endParaRPr lang="en-US" sz="1100" dirty="0">
                        <a:latin typeface="Calibri" charset="0"/>
                        <a:ea typeface="Calibri" charset="0"/>
                        <a:cs typeface="Calibri" charset="0"/>
                      </a:endParaRPr>
                    </a:p>
                  </a:txBody>
                  <a:tcPr marL="109728" marR="109728" marT="0" marB="0" anchor="ctr">
                    <a:lnL w="6350" cap="flat" cmpd="sng" algn="ctr">
                      <a:solidFill>
                        <a:srgbClr val="CADCDE"/>
                      </a:solidFill>
                      <a:prstDash val="solid"/>
                      <a:round/>
                      <a:headEnd type="none" w="med" len="med"/>
                      <a:tailEnd type="none" w="med" len="med"/>
                    </a:lnL>
                    <a:lnR w="6350" cap="flat" cmpd="sng" algn="ctr">
                      <a:solidFill>
                        <a:srgbClr val="CADCDE"/>
                      </a:solidFill>
                      <a:prstDash val="solid"/>
                      <a:round/>
                      <a:headEnd type="none" w="med" len="med"/>
                      <a:tailEnd type="none" w="med" len="med"/>
                    </a:lnR>
                    <a:lnT w="6350" cap="flat" cmpd="sng" algn="ctr">
                      <a:solidFill>
                        <a:srgbClr val="CADCDE"/>
                      </a:solidFill>
                      <a:prstDash val="solid"/>
                      <a:round/>
                      <a:headEnd type="none" w="med" len="med"/>
                      <a:tailEnd type="none" w="med" len="med"/>
                    </a:lnT>
                    <a:lnB w="6350" cap="flat" cmpd="sng" algn="ctr">
                      <a:solidFill>
                        <a:srgbClr val="CADCDE"/>
                      </a:solidFill>
                      <a:prstDash val="solid"/>
                      <a:round/>
                      <a:headEnd type="none" w="med" len="med"/>
                      <a:tailEnd type="none" w="med" len="med"/>
                    </a:lnB>
                    <a:solidFill>
                      <a:srgbClr val="F0FAFB"/>
                    </a:solidFill>
                  </a:tcPr>
                </a:tc>
                <a:tc>
                  <a:txBody>
                    <a:bodyPr/>
                    <a:lstStyle/>
                    <a:p>
                      <a:pPr algn="l" indent="0" marL="0">
                        <a:buNone/>
                      </a:pPr>
                      <a:r>
                        <a:rPr lang="en-US" sz="1100" dirty="0">
                          <a:solidFill>
                            <a:srgbClr val="1A1A2E"/>
                          </a:solidFill>
                          <a:latin typeface="Calibri" pitchFamily="34" charset="0"/>
                          <a:ea typeface="Calibri" pitchFamily="34" charset="-122"/>
                          <a:cs typeface="Calibri" pitchFamily="34" charset="-120"/>
                        </a:rPr>
                        <a:t>Processing all measurement shots</a:t>
                      </a:r>
                      <a:endParaRPr lang="en-US" sz="1100" dirty="0">
                        <a:latin typeface="Calibri" charset="0"/>
                        <a:ea typeface="Calibri" charset="0"/>
                        <a:cs typeface="Calibri" charset="0"/>
                      </a:endParaRPr>
                    </a:p>
                  </a:txBody>
                  <a:tcPr marL="109728" marR="109728" marT="0" marB="0" anchor="ctr">
                    <a:lnL w="6350" cap="flat" cmpd="sng" algn="ctr">
                      <a:solidFill>
                        <a:srgbClr val="CADCDE"/>
                      </a:solidFill>
                      <a:prstDash val="solid"/>
                      <a:round/>
                      <a:headEnd type="none" w="med" len="med"/>
                      <a:tailEnd type="none" w="med" len="med"/>
                    </a:lnL>
                    <a:lnR w="6350" cap="flat" cmpd="sng" algn="ctr">
                      <a:solidFill>
                        <a:srgbClr val="CADCDE"/>
                      </a:solidFill>
                      <a:prstDash val="solid"/>
                      <a:round/>
                      <a:headEnd type="none" w="med" len="med"/>
                      <a:tailEnd type="none" w="med" len="med"/>
                    </a:lnR>
                    <a:lnT w="6350" cap="flat" cmpd="sng" algn="ctr">
                      <a:solidFill>
                        <a:srgbClr val="CADCDE"/>
                      </a:solidFill>
                      <a:prstDash val="solid"/>
                      <a:round/>
                      <a:headEnd type="none" w="med" len="med"/>
                      <a:tailEnd type="none" w="med" len="med"/>
                    </a:lnT>
                    <a:lnB w="6350" cap="flat" cmpd="sng" algn="ctr">
                      <a:solidFill>
                        <a:srgbClr val="CADCDE"/>
                      </a:solidFill>
                      <a:prstDash val="solid"/>
                      <a:round/>
                      <a:headEnd type="none" w="med" len="med"/>
                      <a:tailEnd type="none" w="med" len="med"/>
                    </a:lnB>
                    <a:solidFill>
                      <a:srgbClr val="F0FAFB"/>
                    </a:solidFill>
                  </a:tcPr>
                </a:tc>
                <a:tc>
                  <a:txBody>
                    <a:bodyPr/>
                    <a:lstStyle/>
                    <a:p>
                      <a:pPr algn="l" indent="0" marL="0">
                        <a:buNone/>
                      </a:pPr>
                      <a:r>
                        <a:rPr lang="en-US" sz="1100" dirty="0">
                          <a:solidFill>
                            <a:srgbClr val="1A1A2E"/>
                          </a:solidFill>
                          <a:latin typeface="Courier New" pitchFamily="34" charset="0"/>
                          <a:ea typeface="Courier New" pitchFamily="34" charset="-122"/>
                          <a:cs typeface="Courier New" pitchFamily="34" charset="-120"/>
                        </a:rPr>
                        <a:t>for shot in results: ...</a:t>
                      </a:r>
                      <a:endParaRPr lang="en-US" sz="1100" dirty="0">
                        <a:latin typeface="Courier New" charset="0"/>
                        <a:ea typeface="Courier New" charset="0"/>
                        <a:cs typeface="Courier New" charset="0"/>
                      </a:endParaRPr>
                    </a:p>
                  </a:txBody>
                  <a:tcPr marL="109728" marR="109728" marT="0" marB="0" anchor="ctr">
                    <a:lnL w="6350" cap="flat" cmpd="sng" algn="ctr">
                      <a:solidFill>
                        <a:srgbClr val="CADCDE"/>
                      </a:solidFill>
                      <a:prstDash val="solid"/>
                      <a:round/>
                      <a:headEnd type="none" w="med" len="med"/>
                      <a:tailEnd type="none" w="med" len="med"/>
                    </a:lnL>
                    <a:lnR w="6350" cap="flat" cmpd="sng" algn="ctr">
                      <a:solidFill>
                        <a:srgbClr val="CADCDE"/>
                      </a:solidFill>
                      <a:prstDash val="solid"/>
                      <a:round/>
                      <a:headEnd type="none" w="med" len="med"/>
                      <a:tailEnd type="none" w="med" len="med"/>
                    </a:lnR>
                    <a:lnT w="6350" cap="flat" cmpd="sng" algn="ctr">
                      <a:solidFill>
                        <a:srgbClr val="CADCDE"/>
                      </a:solidFill>
                      <a:prstDash val="solid"/>
                      <a:round/>
                      <a:headEnd type="none" w="med" len="med"/>
                      <a:tailEnd type="none" w="med" len="med"/>
                    </a:lnT>
                    <a:lnB w="6350" cap="flat" cmpd="sng" algn="ctr">
                      <a:solidFill>
                        <a:srgbClr val="CADCDE"/>
                      </a:solidFill>
                      <a:prstDash val="solid"/>
                      <a:round/>
                      <a:headEnd type="none" w="med" len="med"/>
                      <a:tailEnd type="none" w="med" len="med"/>
                    </a:lnB>
                    <a:solidFill>
                      <a:srgbClr val="F0FAFB"/>
                    </a:solidFill>
                  </a:tcPr>
                </a:tc>
              </a:tr>
              <a:tr h="502920">
                <a:tc>
                  <a:txBody>
                    <a:bodyPr/>
                    <a:lstStyle/>
                    <a:p>
                      <a:pPr algn="l" indent="0" marL="0">
                        <a:buNone/>
                      </a:pPr>
                      <a:r>
                        <a:rPr lang="en-US" sz="1100" dirty="0">
                          <a:solidFill>
                            <a:srgbClr val="0A9396"/>
                          </a:solidFill>
                          <a:latin typeface="Calibri" pitchFamily="34" charset="0"/>
                          <a:ea typeface="Calibri" pitchFamily="34" charset="-122"/>
                          <a:cs typeface="Calibri" pitchFamily="34" charset="-120"/>
                        </a:rPr>
                        <a:t>Function</a:t>
                      </a:r>
                      <a:endParaRPr lang="en-US" sz="1100" dirty="0">
                        <a:latin typeface="Calibri" charset="0"/>
                        <a:ea typeface="Calibri" charset="0"/>
                        <a:cs typeface="Calibri" charset="0"/>
                      </a:endParaRPr>
                    </a:p>
                  </a:txBody>
                  <a:tcPr marL="109728" marR="109728" marT="0" marB="0" anchor="ctr">
                    <a:lnL w="6350" cap="flat" cmpd="sng" algn="ctr">
                      <a:solidFill>
                        <a:srgbClr val="CADCDE"/>
                      </a:solidFill>
                      <a:prstDash val="solid"/>
                      <a:round/>
                      <a:headEnd type="none" w="med" len="med"/>
                      <a:tailEnd type="none" w="med" len="med"/>
                    </a:lnL>
                    <a:lnR w="6350" cap="flat" cmpd="sng" algn="ctr">
                      <a:solidFill>
                        <a:srgbClr val="CADCDE"/>
                      </a:solidFill>
                      <a:prstDash val="solid"/>
                      <a:round/>
                      <a:headEnd type="none" w="med" len="med"/>
                      <a:tailEnd type="none" w="med" len="med"/>
                    </a:lnR>
                    <a:lnT w="6350" cap="flat" cmpd="sng" algn="ctr">
                      <a:solidFill>
                        <a:srgbClr val="CADCDE"/>
                      </a:solidFill>
                      <a:prstDash val="solid"/>
                      <a:round/>
                      <a:headEnd type="none" w="med" len="med"/>
                      <a:tailEnd type="none" w="med" len="med"/>
                    </a:lnT>
                    <a:lnB w="6350" cap="flat" cmpd="sng" algn="ctr">
                      <a:solidFill>
                        <a:srgbClr val="CADCD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2E"/>
                          </a:solidFill>
                          <a:latin typeface="Calibri" pitchFamily="34" charset="0"/>
                          <a:ea typeface="Calibri" pitchFamily="34" charset="-122"/>
                          <a:cs typeface="Calibri" pitchFamily="34" charset="-120"/>
                        </a:rPr>
                        <a:t>A reusable circuit building block</a:t>
                      </a:r>
                      <a:endParaRPr lang="en-US" sz="1100" dirty="0">
                        <a:latin typeface="Calibri" charset="0"/>
                        <a:ea typeface="Calibri" charset="0"/>
                        <a:cs typeface="Calibri" charset="0"/>
                      </a:endParaRPr>
                    </a:p>
                  </a:txBody>
                  <a:tcPr marL="109728" marR="109728" marT="0" marB="0" anchor="ctr">
                    <a:lnL w="6350" cap="flat" cmpd="sng" algn="ctr">
                      <a:solidFill>
                        <a:srgbClr val="CADCDE"/>
                      </a:solidFill>
                      <a:prstDash val="solid"/>
                      <a:round/>
                      <a:headEnd type="none" w="med" len="med"/>
                      <a:tailEnd type="none" w="med" len="med"/>
                    </a:lnL>
                    <a:lnR w="6350" cap="flat" cmpd="sng" algn="ctr">
                      <a:solidFill>
                        <a:srgbClr val="CADCDE"/>
                      </a:solidFill>
                      <a:prstDash val="solid"/>
                      <a:round/>
                      <a:headEnd type="none" w="med" len="med"/>
                      <a:tailEnd type="none" w="med" len="med"/>
                    </a:lnR>
                    <a:lnT w="6350" cap="flat" cmpd="sng" algn="ctr">
                      <a:solidFill>
                        <a:srgbClr val="CADCDE"/>
                      </a:solidFill>
                      <a:prstDash val="solid"/>
                      <a:round/>
                      <a:headEnd type="none" w="med" len="med"/>
                      <a:tailEnd type="none" w="med" len="med"/>
                    </a:lnT>
                    <a:lnB w="6350" cap="flat" cmpd="sng" algn="ctr">
                      <a:solidFill>
                        <a:srgbClr val="CADCD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2E"/>
                          </a:solidFill>
                          <a:latin typeface="Courier New" pitchFamily="34" charset="0"/>
                          <a:ea typeface="Courier New" pitchFamily="34" charset="-122"/>
                          <a:cs typeface="Courier New" pitchFamily="34" charset="-120"/>
                        </a:rPr>
                        <a:t>def bell_state(qc): ...</a:t>
                      </a:r>
                      <a:endParaRPr lang="en-US" sz="1100" dirty="0">
                        <a:latin typeface="Courier New" charset="0"/>
                        <a:ea typeface="Courier New" charset="0"/>
                        <a:cs typeface="Courier New" charset="0"/>
                      </a:endParaRPr>
                    </a:p>
                  </a:txBody>
                  <a:tcPr marL="109728" marR="109728" marT="0" marB="0" anchor="ctr">
                    <a:lnL w="6350" cap="flat" cmpd="sng" algn="ctr">
                      <a:solidFill>
                        <a:srgbClr val="CADCDE"/>
                      </a:solidFill>
                      <a:prstDash val="solid"/>
                      <a:round/>
                      <a:headEnd type="none" w="med" len="med"/>
                      <a:tailEnd type="none" w="med" len="med"/>
                    </a:lnL>
                    <a:lnR w="6350" cap="flat" cmpd="sng" algn="ctr">
                      <a:solidFill>
                        <a:srgbClr val="CADCDE"/>
                      </a:solidFill>
                      <a:prstDash val="solid"/>
                      <a:round/>
                      <a:headEnd type="none" w="med" len="med"/>
                      <a:tailEnd type="none" w="med" len="med"/>
                    </a:lnR>
                    <a:lnT w="6350" cap="flat" cmpd="sng" algn="ctr">
                      <a:solidFill>
                        <a:srgbClr val="CADCDE"/>
                      </a:solidFill>
                      <a:prstDash val="solid"/>
                      <a:round/>
                      <a:headEnd type="none" w="med" len="med"/>
                      <a:tailEnd type="none" w="med" len="med"/>
                    </a:lnT>
                    <a:lnB w="6350" cap="flat" cmpd="sng" algn="ctr">
                      <a:solidFill>
                        <a:srgbClr val="CADCD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9396"/>
          </a:solidFill>
          <a:ln w="12700">
            <a:solidFill>
              <a:srgbClr val="0A9396"/>
            </a:solidFill>
            <a:prstDash val="solid"/>
          </a:ln>
        </p:spPr>
      </p:sp>
      <p:sp>
        <p:nvSpPr>
          <p:cNvPr id="3" name="Text 1"/>
          <p:cNvSpPr/>
          <p:nvPr/>
        </p:nvSpPr>
        <p:spPr>
          <a:xfrm>
            <a:off x="457200" y="365760"/>
            <a:ext cx="8229600" cy="594360"/>
          </a:xfrm>
          <a:prstGeom prst="rect">
            <a:avLst/>
          </a:prstGeom>
          <a:noFill/>
          <a:ln/>
        </p:spPr>
        <p:txBody>
          <a:bodyPr wrap="square" lIns="0" tIns="0" rIns="0" bIns="0" rtlCol="0" anchor="ctr"/>
          <a:lstStyle/>
          <a:p>
            <a:pPr algn="l" indent="0" marL="0">
              <a:buNone/>
            </a:pPr>
            <a:r>
              <a:rPr lang="en-US" sz="3200" b="1" dirty="0">
                <a:solidFill>
                  <a:srgbClr val="94D2BD"/>
                </a:solidFill>
                <a:latin typeface="Cambria" pitchFamily="34" charset="0"/>
                <a:ea typeface="Cambria" pitchFamily="34" charset="-122"/>
                <a:cs typeface="Cambria" pitchFamily="34" charset="-120"/>
              </a:rPr>
              <a:t>Summary</a:t>
            </a:r>
            <a:endParaRPr lang="en-US" sz="3200" dirty="0"/>
          </a:p>
        </p:txBody>
      </p:sp>
      <p:sp>
        <p:nvSpPr>
          <p:cNvPr id="4" name="Shape 2"/>
          <p:cNvSpPr/>
          <p:nvPr/>
        </p:nvSpPr>
        <p:spPr>
          <a:xfrm>
            <a:off x="457200" y="1097280"/>
            <a:ext cx="3977640" cy="1051560"/>
          </a:xfrm>
          <a:prstGeom prst="roundRect">
            <a:avLst>
              <a:gd name="adj" fmla="val 8696"/>
            </a:avLst>
          </a:prstGeom>
          <a:solidFill>
            <a:srgbClr val="FFFFFF">
              <a:alpha val="12000"/>
            </a:srgbClr>
          </a:solidFill>
          <a:ln w="12700">
            <a:solidFill>
              <a:srgbClr val="94D2BD"/>
            </a:solidFill>
            <a:prstDash val="solid"/>
          </a:ln>
        </p:spPr>
      </p:sp>
      <p:sp>
        <p:nvSpPr>
          <p:cNvPr id="5" name="Shape 3"/>
          <p:cNvSpPr/>
          <p:nvPr/>
        </p:nvSpPr>
        <p:spPr>
          <a:xfrm>
            <a:off x="603504" y="1435608"/>
            <a:ext cx="384048" cy="384048"/>
          </a:xfrm>
          <a:prstGeom prst="ellipse">
            <a:avLst/>
          </a:prstGeom>
          <a:solidFill>
            <a:srgbClr val="94D2BD"/>
          </a:solidFill>
          <a:ln w="12700">
            <a:solidFill>
              <a:srgbClr val="94D2BD"/>
            </a:solidFill>
            <a:prstDash val="solid"/>
          </a:ln>
        </p:spPr>
      </p:sp>
      <p:sp>
        <p:nvSpPr>
          <p:cNvPr id="6" name="Text 4"/>
          <p:cNvSpPr/>
          <p:nvPr/>
        </p:nvSpPr>
        <p:spPr>
          <a:xfrm>
            <a:off x="603504" y="14356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5"/>
          <p:cNvSpPr/>
          <p:nvPr/>
        </p:nvSpPr>
        <p:spPr>
          <a:xfrm>
            <a:off x="1115568" y="1170432"/>
            <a:ext cx="3154680" cy="320040"/>
          </a:xfrm>
          <a:prstGeom prst="rect">
            <a:avLst/>
          </a:prstGeom>
          <a:noFill/>
          <a:ln/>
        </p:spPr>
        <p:txBody>
          <a:bodyPr wrap="square" lIns="0" tIns="0" rIns="0" bIns="0" rtlCol="0" anchor="ctr"/>
          <a:lstStyle/>
          <a:p>
            <a:pPr indent="0" marL="0">
              <a:buNone/>
            </a:pPr>
            <a:r>
              <a:rPr lang="en-US" sz="1400" b="1" dirty="0">
                <a:solidFill>
                  <a:srgbClr val="94D2BD"/>
                </a:solidFill>
                <a:latin typeface="Calibri" pitchFamily="34" charset="0"/>
                <a:ea typeface="Calibri" pitchFamily="34" charset="-122"/>
                <a:cs typeface="Calibri" pitchFamily="34" charset="-120"/>
              </a:rPr>
              <a:t>Variables</a:t>
            </a:r>
            <a:endParaRPr lang="en-US" sz="1400" dirty="0"/>
          </a:p>
        </p:txBody>
      </p:sp>
      <p:sp>
        <p:nvSpPr>
          <p:cNvPr id="8" name="Text 6"/>
          <p:cNvSpPr/>
          <p:nvPr/>
        </p:nvSpPr>
        <p:spPr>
          <a:xfrm>
            <a:off x="1115568" y="1499616"/>
            <a:ext cx="3154680" cy="530352"/>
          </a:xfrm>
          <a:prstGeom prst="rect">
            <a:avLst/>
          </a:prstGeom>
          <a:noFill/>
          <a:ln/>
        </p:spPr>
        <p:txBody>
          <a:bodyPr wrap="square" lIns="0" tIns="0" rIns="0" bIns="0" rtlCol="0" anchor="ctr"/>
          <a:lstStyle/>
          <a:p>
            <a:pPr indent="0" marL="0">
              <a:buNone/>
            </a:pPr>
            <a:r>
              <a:rPr lang="en-US" sz="1200" dirty="0">
                <a:solidFill>
                  <a:srgbClr val="D0EBF5"/>
                </a:solidFill>
                <a:latin typeface="Calibri" pitchFamily="34" charset="0"/>
                <a:ea typeface="Calibri" pitchFamily="34" charset="-122"/>
                <a:cs typeface="Calibri" pitchFamily="34" charset="-120"/>
              </a:rPr>
              <a:t>Name your data. Python infers the type.</a:t>
            </a:r>
            <a:endParaRPr lang="en-US" sz="1200" dirty="0"/>
          </a:p>
        </p:txBody>
      </p:sp>
      <p:sp>
        <p:nvSpPr>
          <p:cNvPr id="9" name="Shape 7"/>
          <p:cNvSpPr/>
          <p:nvPr/>
        </p:nvSpPr>
        <p:spPr>
          <a:xfrm>
            <a:off x="4754880" y="1097280"/>
            <a:ext cx="3977640" cy="1051560"/>
          </a:xfrm>
          <a:prstGeom prst="roundRect">
            <a:avLst>
              <a:gd name="adj" fmla="val 8696"/>
            </a:avLst>
          </a:prstGeom>
          <a:solidFill>
            <a:srgbClr val="FFFFFF">
              <a:alpha val="12000"/>
            </a:srgbClr>
          </a:solidFill>
          <a:ln w="12700">
            <a:solidFill>
              <a:srgbClr val="94D2BD"/>
            </a:solidFill>
            <a:prstDash val="solid"/>
          </a:ln>
        </p:spPr>
      </p:sp>
      <p:sp>
        <p:nvSpPr>
          <p:cNvPr id="10" name="Shape 8"/>
          <p:cNvSpPr/>
          <p:nvPr/>
        </p:nvSpPr>
        <p:spPr>
          <a:xfrm>
            <a:off x="4901184" y="1435608"/>
            <a:ext cx="384048" cy="384048"/>
          </a:xfrm>
          <a:prstGeom prst="ellipse">
            <a:avLst/>
          </a:prstGeom>
          <a:solidFill>
            <a:srgbClr val="94D2BD"/>
          </a:solidFill>
          <a:ln w="12700">
            <a:solidFill>
              <a:srgbClr val="94D2BD"/>
            </a:solidFill>
            <a:prstDash val="solid"/>
          </a:ln>
        </p:spPr>
      </p:sp>
      <p:sp>
        <p:nvSpPr>
          <p:cNvPr id="11" name="Text 9"/>
          <p:cNvSpPr/>
          <p:nvPr/>
        </p:nvSpPr>
        <p:spPr>
          <a:xfrm>
            <a:off x="4901184" y="14356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10"/>
          <p:cNvSpPr/>
          <p:nvPr/>
        </p:nvSpPr>
        <p:spPr>
          <a:xfrm>
            <a:off x="5413248" y="1170432"/>
            <a:ext cx="3154680" cy="320040"/>
          </a:xfrm>
          <a:prstGeom prst="rect">
            <a:avLst/>
          </a:prstGeom>
          <a:noFill/>
          <a:ln/>
        </p:spPr>
        <p:txBody>
          <a:bodyPr wrap="square" lIns="0" tIns="0" rIns="0" bIns="0" rtlCol="0" anchor="ctr"/>
          <a:lstStyle/>
          <a:p>
            <a:pPr indent="0" marL="0">
              <a:buNone/>
            </a:pPr>
            <a:r>
              <a:rPr lang="en-US" sz="1400" b="1" dirty="0">
                <a:solidFill>
                  <a:srgbClr val="94D2BD"/>
                </a:solidFill>
                <a:latin typeface="Calibri" pitchFamily="34" charset="0"/>
                <a:ea typeface="Calibri" pitchFamily="34" charset="-122"/>
                <a:cs typeface="Calibri" pitchFamily="34" charset="-120"/>
              </a:rPr>
              <a:t>Lists</a:t>
            </a:r>
            <a:endParaRPr lang="en-US" sz="1400" dirty="0"/>
          </a:p>
        </p:txBody>
      </p:sp>
      <p:sp>
        <p:nvSpPr>
          <p:cNvPr id="13" name="Text 11"/>
          <p:cNvSpPr/>
          <p:nvPr/>
        </p:nvSpPr>
        <p:spPr>
          <a:xfrm>
            <a:off x="5413248" y="1499616"/>
            <a:ext cx="3154680" cy="530352"/>
          </a:xfrm>
          <a:prstGeom prst="rect">
            <a:avLst/>
          </a:prstGeom>
          <a:noFill/>
          <a:ln/>
        </p:spPr>
        <p:txBody>
          <a:bodyPr wrap="square" lIns="0" tIns="0" rIns="0" bIns="0" rtlCol="0" anchor="ctr"/>
          <a:lstStyle/>
          <a:p>
            <a:pPr indent="0" marL="0">
              <a:buNone/>
            </a:pPr>
            <a:r>
              <a:rPr lang="en-US" sz="1200" dirty="0">
                <a:solidFill>
                  <a:srgbClr val="D0EBF5"/>
                </a:solidFill>
                <a:latin typeface="Calibri" pitchFamily="34" charset="0"/>
                <a:ea typeface="Calibri" pitchFamily="34" charset="-122"/>
                <a:cs typeface="Calibri" pitchFamily="34" charset="-120"/>
              </a:rPr>
              <a:t>Store many values in order. Index from 0.</a:t>
            </a:r>
            <a:endParaRPr lang="en-US" sz="1200" dirty="0"/>
          </a:p>
        </p:txBody>
      </p:sp>
      <p:sp>
        <p:nvSpPr>
          <p:cNvPr id="14" name="Shape 12"/>
          <p:cNvSpPr/>
          <p:nvPr/>
        </p:nvSpPr>
        <p:spPr>
          <a:xfrm>
            <a:off x="457200" y="2331720"/>
            <a:ext cx="3977640" cy="1051560"/>
          </a:xfrm>
          <a:prstGeom prst="roundRect">
            <a:avLst>
              <a:gd name="adj" fmla="val 8696"/>
            </a:avLst>
          </a:prstGeom>
          <a:solidFill>
            <a:srgbClr val="FFFFFF">
              <a:alpha val="12000"/>
            </a:srgbClr>
          </a:solidFill>
          <a:ln w="12700">
            <a:solidFill>
              <a:srgbClr val="94D2BD"/>
            </a:solidFill>
            <a:prstDash val="solid"/>
          </a:ln>
        </p:spPr>
      </p:sp>
      <p:sp>
        <p:nvSpPr>
          <p:cNvPr id="15" name="Shape 13"/>
          <p:cNvSpPr/>
          <p:nvPr/>
        </p:nvSpPr>
        <p:spPr>
          <a:xfrm>
            <a:off x="603504" y="2670048"/>
            <a:ext cx="384048" cy="384048"/>
          </a:xfrm>
          <a:prstGeom prst="ellipse">
            <a:avLst/>
          </a:prstGeom>
          <a:solidFill>
            <a:srgbClr val="94D2BD"/>
          </a:solidFill>
          <a:ln w="12700">
            <a:solidFill>
              <a:srgbClr val="94D2BD"/>
            </a:solidFill>
            <a:prstDash val="solid"/>
          </a:ln>
        </p:spPr>
      </p:sp>
      <p:sp>
        <p:nvSpPr>
          <p:cNvPr id="16" name="Text 14"/>
          <p:cNvSpPr/>
          <p:nvPr/>
        </p:nvSpPr>
        <p:spPr>
          <a:xfrm>
            <a:off x="603504" y="2670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5"/>
          <p:cNvSpPr/>
          <p:nvPr/>
        </p:nvSpPr>
        <p:spPr>
          <a:xfrm>
            <a:off x="1115568" y="2404872"/>
            <a:ext cx="3154680" cy="320040"/>
          </a:xfrm>
          <a:prstGeom prst="rect">
            <a:avLst/>
          </a:prstGeom>
          <a:noFill/>
          <a:ln/>
        </p:spPr>
        <p:txBody>
          <a:bodyPr wrap="square" lIns="0" tIns="0" rIns="0" bIns="0" rtlCol="0" anchor="ctr"/>
          <a:lstStyle/>
          <a:p>
            <a:pPr indent="0" marL="0">
              <a:buNone/>
            </a:pPr>
            <a:r>
              <a:rPr lang="en-US" sz="1400" b="1" dirty="0">
                <a:solidFill>
                  <a:srgbClr val="94D2BD"/>
                </a:solidFill>
                <a:latin typeface="Calibri" pitchFamily="34" charset="0"/>
                <a:ea typeface="Calibri" pitchFamily="34" charset="-122"/>
                <a:cs typeface="Calibri" pitchFamily="34" charset="-120"/>
              </a:rPr>
              <a:t>Conditionals</a:t>
            </a:r>
            <a:endParaRPr lang="en-US" sz="1400" dirty="0"/>
          </a:p>
        </p:txBody>
      </p:sp>
      <p:sp>
        <p:nvSpPr>
          <p:cNvPr id="18" name="Text 16"/>
          <p:cNvSpPr/>
          <p:nvPr/>
        </p:nvSpPr>
        <p:spPr>
          <a:xfrm>
            <a:off x="1115568" y="2734056"/>
            <a:ext cx="3154680" cy="530352"/>
          </a:xfrm>
          <a:prstGeom prst="rect">
            <a:avLst/>
          </a:prstGeom>
          <a:noFill/>
          <a:ln/>
        </p:spPr>
        <p:txBody>
          <a:bodyPr wrap="square" lIns="0" tIns="0" rIns="0" bIns="0" rtlCol="0" anchor="ctr"/>
          <a:lstStyle/>
          <a:p>
            <a:pPr indent="0" marL="0">
              <a:buNone/>
            </a:pPr>
            <a:r>
              <a:rPr lang="en-US" sz="1200" dirty="0">
                <a:solidFill>
                  <a:srgbClr val="D0EBF5"/>
                </a:solidFill>
                <a:latin typeface="Calibri" pitchFamily="34" charset="0"/>
                <a:ea typeface="Calibri" pitchFamily="34" charset="-122"/>
                <a:cs typeface="Calibri" pitchFamily="34" charset="-120"/>
              </a:rPr>
              <a:t>Make decisions with if, elif, else.</a:t>
            </a:r>
            <a:endParaRPr lang="en-US" sz="1200" dirty="0"/>
          </a:p>
        </p:txBody>
      </p:sp>
      <p:sp>
        <p:nvSpPr>
          <p:cNvPr id="19" name="Shape 17"/>
          <p:cNvSpPr/>
          <p:nvPr/>
        </p:nvSpPr>
        <p:spPr>
          <a:xfrm>
            <a:off x="4754880" y="2331720"/>
            <a:ext cx="3977640" cy="1051560"/>
          </a:xfrm>
          <a:prstGeom prst="roundRect">
            <a:avLst>
              <a:gd name="adj" fmla="val 8696"/>
            </a:avLst>
          </a:prstGeom>
          <a:solidFill>
            <a:srgbClr val="FFFFFF">
              <a:alpha val="12000"/>
            </a:srgbClr>
          </a:solidFill>
          <a:ln w="12700">
            <a:solidFill>
              <a:srgbClr val="94D2BD"/>
            </a:solidFill>
            <a:prstDash val="solid"/>
          </a:ln>
        </p:spPr>
      </p:sp>
      <p:sp>
        <p:nvSpPr>
          <p:cNvPr id="20" name="Shape 18"/>
          <p:cNvSpPr/>
          <p:nvPr/>
        </p:nvSpPr>
        <p:spPr>
          <a:xfrm>
            <a:off x="4901184" y="2670048"/>
            <a:ext cx="384048" cy="384048"/>
          </a:xfrm>
          <a:prstGeom prst="ellipse">
            <a:avLst/>
          </a:prstGeom>
          <a:solidFill>
            <a:srgbClr val="94D2BD"/>
          </a:solidFill>
          <a:ln w="12700">
            <a:solidFill>
              <a:srgbClr val="94D2BD"/>
            </a:solidFill>
            <a:prstDash val="solid"/>
          </a:ln>
        </p:spPr>
      </p:sp>
      <p:sp>
        <p:nvSpPr>
          <p:cNvPr id="21" name="Text 19"/>
          <p:cNvSpPr/>
          <p:nvPr/>
        </p:nvSpPr>
        <p:spPr>
          <a:xfrm>
            <a:off x="4901184" y="2670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2" name="Text 20"/>
          <p:cNvSpPr/>
          <p:nvPr/>
        </p:nvSpPr>
        <p:spPr>
          <a:xfrm>
            <a:off x="5413248" y="2404872"/>
            <a:ext cx="3154680" cy="320040"/>
          </a:xfrm>
          <a:prstGeom prst="rect">
            <a:avLst/>
          </a:prstGeom>
          <a:noFill/>
          <a:ln/>
        </p:spPr>
        <p:txBody>
          <a:bodyPr wrap="square" lIns="0" tIns="0" rIns="0" bIns="0" rtlCol="0" anchor="ctr"/>
          <a:lstStyle/>
          <a:p>
            <a:pPr indent="0" marL="0">
              <a:buNone/>
            </a:pPr>
            <a:r>
              <a:rPr lang="en-US" sz="1400" b="1" dirty="0">
                <a:solidFill>
                  <a:srgbClr val="94D2BD"/>
                </a:solidFill>
                <a:latin typeface="Calibri" pitchFamily="34" charset="0"/>
                <a:ea typeface="Calibri" pitchFamily="34" charset="-122"/>
                <a:cs typeface="Calibri" pitchFamily="34" charset="-120"/>
              </a:rPr>
              <a:t>Loops</a:t>
            </a:r>
            <a:endParaRPr lang="en-US" sz="1400" dirty="0"/>
          </a:p>
        </p:txBody>
      </p:sp>
      <p:sp>
        <p:nvSpPr>
          <p:cNvPr id="23" name="Text 21"/>
          <p:cNvSpPr/>
          <p:nvPr/>
        </p:nvSpPr>
        <p:spPr>
          <a:xfrm>
            <a:off x="5413248" y="2734056"/>
            <a:ext cx="3154680" cy="530352"/>
          </a:xfrm>
          <a:prstGeom prst="rect">
            <a:avLst/>
          </a:prstGeom>
          <a:noFill/>
          <a:ln/>
        </p:spPr>
        <p:txBody>
          <a:bodyPr wrap="square" lIns="0" tIns="0" rIns="0" bIns="0" rtlCol="0" anchor="ctr"/>
          <a:lstStyle/>
          <a:p>
            <a:pPr indent="0" marL="0">
              <a:buNone/>
            </a:pPr>
            <a:r>
              <a:rPr lang="en-US" sz="1200" dirty="0">
                <a:solidFill>
                  <a:srgbClr val="D0EBF5"/>
                </a:solidFill>
                <a:latin typeface="Calibri" pitchFamily="34" charset="0"/>
                <a:ea typeface="Calibri" pitchFamily="34" charset="-122"/>
                <a:cs typeface="Calibri" pitchFamily="34" charset="-120"/>
              </a:rPr>
              <a:t>Repeat an action with for and range.</a:t>
            </a:r>
            <a:endParaRPr lang="en-US" sz="1200" dirty="0"/>
          </a:p>
        </p:txBody>
      </p:sp>
      <p:sp>
        <p:nvSpPr>
          <p:cNvPr id="24" name="Shape 22"/>
          <p:cNvSpPr/>
          <p:nvPr/>
        </p:nvSpPr>
        <p:spPr>
          <a:xfrm>
            <a:off x="457200" y="3566160"/>
            <a:ext cx="3977640" cy="1051560"/>
          </a:xfrm>
          <a:prstGeom prst="roundRect">
            <a:avLst>
              <a:gd name="adj" fmla="val 8696"/>
            </a:avLst>
          </a:prstGeom>
          <a:solidFill>
            <a:srgbClr val="FFFFFF">
              <a:alpha val="12000"/>
            </a:srgbClr>
          </a:solidFill>
          <a:ln w="12700">
            <a:solidFill>
              <a:srgbClr val="94D2BD"/>
            </a:solidFill>
            <a:prstDash val="solid"/>
          </a:ln>
        </p:spPr>
      </p:sp>
      <p:sp>
        <p:nvSpPr>
          <p:cNvPr id="25" name="Shape 23"/>
          <p:cNvSpPr/>
          <p:nvPr/>
        </p:nvSpPr>
        <p:spPr>
          <a:xfrm>
            <a:off x="603504" y="3904488"/>
            <a:ext cx="384048" cy="384048"/>
          </a:xfrm>
          <a:prstGeom prst="ellipse">
            <a:avLst/>
          </a:prstGeom>
          <a:solidFill>
            <a:srgbClr val="94D2BD"/>
          </a:solidFill>
          <a:ln w="12700">
            <a:solidFill>
              <a:srgbClr val="94D2BD"/>
            </a:solidFill>
            <a:prstDash val="solid"/>
          </a:ln>
        </p:spPr>
      </p:sp>
      <p:sp>
        <p:nvSpPr>
          <p:cNvPr id="26" name="Text 24"/>
          <p:cNvSpPr/>
          <p:nvPr/>
        </p:nvSpPr>
        <p:spPr>
          <a:xfrm>
            <a:off x="603504" y="3904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7" name="Text 25"/>
          <p:cNvSpPr/>
          <p:nvPr/>
        </p:nvSpPr>
        <p:spPr>
          <a:xfrm>
            <a:off x="1115568" y="3639312"/>
            <a:ext cx="3154680" cy="320040"/>
          </a:xfrm>
          <a:prstGeom prst="rect">
            <a:avLst/>
          </a:prstGeom>
          <a:noFill/>
          <a:ln/>
        </p:spPr>
        <p:txBody>
          <a:bodyPr wrap="square" lIns="0" tIns="0" rIns="0" bIns="0" rtlCol="0" anchor="ctr"/>
          <a:lstStyle/>
          <a:p>
            <a:pPr indent="0" marL="0">
              <a:buNone/>
            </a:pPr>
            <a:r>
              <a:rPr lang="en-US" sz="1400" b="1" dirty="0">
                <a:solidFill>
                  <a:srgbClr val="94D2BD"/>
                </a:solidFill>
                <a:latin typeface="Calibri" pitchFamily="34" charset="0"/>
                <a:ea typeface="Calibri" pitchFamily="34" charset="-122"/>
                <a:cs typeface="Calibri" pitchFamily="34" charset="-120"/>
              </a:rPr>
              <a:t>Functions</a:t>
            </a:r>
            <a:endParaRPr lang="en-US" sz="1400" dirty="0"/>
          </a:p>
        </p:txBody>
      </p:sp>
      <p:sp>
        <p:nvSpPr>
          <p:cNvPr id="28" name="Text 26"/>
          <p:cNvSpPr/>
          <p:nvPr/>
        </p:nvSpPr>
        <p:spPr>
          <a:xfrm>
            <a:off x="1115568" y="3968496"/>
            <a:ext cx="3154680" cy="530352"/>
          </a:xfrm>
          <a:prstGeom prst="rect">
            <a:avLst/>
          </a:prstGeom>
          <a:noFill/>
          <a:ln/>
        </p:spPr>
        <p:txBody>
          <a:bodyPr wrap="square" lIns="0" tIns="0" rIns="0" bIns="0" rtlCol="0" anchor="ctr"/>
          <a:lstStyle/>
          <a:p>
            <a:pPr indent="0" marL="0">
              <a:buNone/>
            </a:pPr>
            <a:r>
              <a:rPr lang="en-US" sz="1200" dirty="0">
                <a:solidFill>
                  <a:srgbClr val="D0EBF5"/>
                </a:solidFill>
                <a:latin typeface="Calibri" pitchFamily="34" charset="0"/>
                <a:ea typeface="Calibri" pitchFamily="34" charset="-122"/>
                <a:cs typeface="Calibri" pitchFamily="34" charset="-120"/>
              </a:rPr>
              <a:t>Package code with def. Reuse freely.</a:t>
            </a:r>
            <a:endParaRPr lang="en-US" sz="1200" dirty="0"/>
          </a:p>
        </p:txBody>
      </p:sp>
      <p:sp>
        <p:nvSpPr>
          <p:cNvPr id="29" name="Shape 27"/>
          <p:cNvSpPr/>
          <p:nvPr/>
        </p:nvSpPr>
        <p:spPr>
          <a:xfrm>
            <a:off x="4754880" y="3566160"/>
            <a:ext cx="3977640" cy="1051560"/>
          </a:xfrm>
          <a:prstGeom prst="roundRect">
            <a:avLst>
              <a:gd name="adj" fmla="val 8696"/>
            </a:avLst>
          </a:prstGeom>
          <a:solidFill>
            <a:srgbClr val="FFFFFF">
              <a:alpha val="12000"/>
            </a:srgbClr>
          </a:solidFill>
          <a:ln w="12700">
            <a:solidFill>
              <a:srgbClr val="94D2BD"/>
            </a:solidFill>
            <a:prstDash val="solid"/>
          </a:ln>
        </p:spPr>
      </p:sp>
      <p:sp>
        <p:nvSpPr>
          <p:cNvPr id="30" name="Shape 28"/>
          <p:cNvSpPr/>
          <p:nvPr/>
        </p:nvSpPr>
        <p:spPr>
          <a:xfrm>
            <a:off x="4901184" y="3904488"/>
            <a:ext cx="384048" cy="384048"/>
          </a:xfrm>
          <a:prstGeom prst="ellipse">
            <a:avLst/>
          </a:prstGeom>
          <a:solidFill>
            <a:srgbClr val="94D2BD"/>
          </a:solidFill>
          <a:ln w="12700">
            <a:solidFill>
              <a:srgbClr val="94D2BD"/>
            </a:solidFill>
            <a:prstDash val="solid"/>
          </a:ln>
        </p:spPr>
      </p:sp>
      <p:sp>
        <p:nvSpPr>
          <p:cNvPr id="31" name="Text 29"/>
          <p:cNvSpPr/>
          <p:nvPr/>
        </p:nvSpPr>
        <p:spPr>
          <a:xfrm>
            <a:off x="4901184" y="3904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32" name="Text 30"/>
          <p:cNvSpPr/>
          <p:nvPr/>
        </p:nvSpPr>
        <p:spPr>
          <a:xfrm>
            <a:off x="5413248" y="3639312"/>
            <a:ext cx="3154680" cy="320040"/>
          </a:xfrm>
          <a:prstGeom prst="rect">
            <a:avLst/>
          </a:prstGeom>
          <a:noFill/>
          <a:ln/>
        </p:spPr>
        <p:txBody>
          <a:bodyPr wrap="square" lIns="0" tIns="0" rIns="0" bIns="0" rtlCol="0" anchor="ctr"/>
          <a:lstStyle/>
          <a:p>
            <a:pPr indent="0" marL="0">
              <a:buNone/>
            </a:pPr>
            <a:r>
              <a:rPr lang="en-US" sz="1400" b="1" dirty="0">
                <a:solidFill>
                  <a:srgbClr val="94D2BD"/>
                </a:solidFill>
                <a:latin typeface="Calibri" pitchFamily="34" charset="0"/>
                <a:ea typeface="Calibri" pitchFamily="34" charset="-122"/>
                <a:cs typeface="Calibri" pitchFamily="34" charset="-120"/>
              </a:rPr>
              <a:t>The bridge</a:t>
            </a:r>
            <a:endParaRPr lang="en-US" sz="1400" dirty="0"/>
          </a:p>
        </p:txBody>
      </p:sp>
      <p:sp>
        <p:nvSpPr>
          <p:cNvPr id="33" name="Text 31"/>
          <p:cNvSpPr/>
          <p:nvPr/>
        </p:nvSpPr>
        <p:spPr>
          <a:xfrm>
            <a:off x="5413248" y="3968496"/>
            <a:ext cx="3154680" cy="530352"/>
          </a:xfrm>
          <a:prstGeom prst="rect">
            <a:avLst/>
          </a:prstGeom>
          <a:noFill/>
          <a:ln/>
        </p:spPr>
        <p:txBody>
          <a:bodyPr wrap="square" lIns="0" tIns="0" rIns="0" bIns="0" rtlCol="0" anchor="ctr"/>
          <a:lstStyle/>
          <a:p>
            <a:pPr indent="0" marL="0">
              <a:buNone/>
            </a:pPr>
            <a:r>
              <a:rPr lang="en-US" sz="1200" dirty="0">
                <a:solidFill>
                  <a:srgbClr val="D0EBF5"/>
                </a:solidFill>
                <a:latin typeface="Calibri" pitchFamily="34" charset="0"/>
                <a:ea typeface="Calibri" pitchFamily="34" charset="-122"/>
                <a:cs typeface="Calibri" pitchFamily="34" charset="-120"/>
              </a:rPr>
              <a:t>Every concept above reappears in Qiskit.</a:t>
            </a:r>
            <a:endParaRPr lang="en-US" sz="1200" dirty="0"/>
          </a:p>
        </p:txBody>
      </p:sp>
      <p:sp>
        <p:nvSpPr>
          <p:cNvPr id="34" name="Text 32"/>
          <p:cNvSpPr/>
          <p:nvPr/>
        </p:nvSpPr>
        <p:spPr>
          <a:xfrm>
            <a:off x="457200" y="4754880"/>
            <a:ext cx="8321040" cy="274320"/>
          </a:xfrm>
          <a:prstGeom prst="rect">
            <a:avLst/>
          </a:prstGeom>
          <a:noFill/>
          <a:ln/>
        </p:spPr>
        <p:txBody>
          <a:bodyPr wrap="square" lIns="0" tIns="0" rIns="0" bIns="0" rtlCol="0" anchor="ctr"/>
          <a:lstStyle/>
          <a:p>
            <a:pPr algn="ctr" indent="0" marL="0">
              <a:buNone/>
            </a:pPr>
            <a:r>
              <a:rPr lang="en-US" sz="1300" i="1" dirty="0">
                <a:solidFill>
                  <a:srgbClr val="94D2BD"/>
                </a:solidFill>
                <a:latin typeface="Calibri" pitchFamily="34" charset="0"/>
                <a:ea typeface="Calibri" pitchFamily="34" charset="-122"/>
                <a:cs typeface="Calibri" pitchFamily="34" charset="-120"/>
              </a:rPr>
              <a:t>Open the notebook and try the exercises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Basics for Quantum Machine Learning</dc:title>
  <dc:subject>PptxGenJS Presentation</dc:subject>
  <dc:creator>IIT Delhi CEP</dc:creator>
  <cp:lastModifiedBy>IIT Delhi CEP</cp:lastModifiedBy>
  <cp:revision>1</cp:revision>
  <dcterms:created xsi:type="dcterms:W3CDTF">2026-07-04T09:00:39Z</dcterms:created>
  <dcterms:modified xsi:type="dcterms:W3CDTF">2026-07-04T09:00:39Z</dcterms:modified>
</cp:coreProperties>
</file>